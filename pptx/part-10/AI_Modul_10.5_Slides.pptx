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10.5: Operasi Filter Spasial dan Konvolusi 2D</a:t>
            </a:r>
          </a:p>
          <a:p>
            <a:pPr>
              <a:spcBef>
                <a:spcPts val="1200"/>
              </a:spcBef>
              <a:defRPr sz="1600">
                <a:solidFill>
                  <a:srgbClr val="94A3B8"/>
                </a:solidFill>
              </a:defRPr>
            </a:pPr>
            <a:r>
              <a:t>Bagian 10: Pelatihan, Optimasi, dan Regularisasi Deep Learning</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matematika operasi konvolusi spasial 2D diskrit versus korelasi silang, penanganan batas (zero, replicate, reflect padding), sifat keterpisahan kernel (separable kernel) Gaussian 2D menjadi dua penapis 1D, serta formulasi pembobotan geometris dan radiometrik pada penapis bilateral (Bilateral Filter).</a:t>
            </a:r>
          </a:p>
          <a:p>
            <a:pPr>
              <a:spcAft>
                <a:spcPts val="400"/>
              </a:spcAft>
              <a:defRPr sz="1100">
                <a:solidFill>
                  <a:srgbClr val="334155"/>
                </a:solidFill>
              </a:defRPr>
            </a:pPr>
            <a:r>
              <a:t>•  Menerapkan (C3) fungsi pustaka OpenCV (`cv2.filter2D`, `cv2.GaussianBlur`, `cv2.medianBlur`, `cv2.bilateralFilter`) untuk mereduksi derau impulsif (salt-and-pepper) dan derau termal fotodioda sensor drone, serta merekonstruksi kontur urat daun yang kabur menggunakan teknik Unsharp Masking bebas aritmatika overflow.</a:t>
            </a:r>
          </a:p>
          <a:p>
            <a:pPr>
              <a:spcAft>
                <a:spcPts val="400"/>
              </a:spcAft>
              <a:defRPr sz="1100">
                <a:solidFill>
                  <a:srgbClr val="334155"/>
                </a:solidFill>
              </a:defRPr>
            </a:pPr>
            <a:r>
              <a:t>•  Menganalisis (C4) perbedaan mendasar performa penapis linier versus penapis non-linier menggunakan evaluasi kuantitatif metrik PSNR (Peak Signal-to-Noise Ratio), membuktikan secara analitis efisiensi percepatan komputasi \mathcal{O}(2K) versus \mathcal{O}(K^2), serta memvalidasi kemampuan preservasi garis tepi pelepah daun menggunakan profil penampang intensitas spasial 1D.</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Operasi Filter Spasial dan Konvolusi 2D.</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g(x, y) = (f * w)(x, y) = sum_s=-a^a sum_t=-b^b w(s, t) f(x - s, y - 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Operasi Filter Spasial dan Konvolusi 2D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ANALISIS FILTER SPASIAL DAN KONVOLUSI 2D AGRO</a:t>
            </a:r>
          </a:p>
        </p:txBody>
      </p:sp>
      <p:pic>
        <p:nvPicPr>
          <p:cNvPr id="12" name="Picture 11" descr="operasi_filter_spasial_dan_konvolusi_2d_agrokompleks.png"/>
          <p:cNvPicPr>
            <a:picLocks noChangeAspect="1"/>
          </p:cNvPicPr>
          <p:nvPr/>
        </p:nvPicPr>
        <p:blipFill>
          <a:blip r:embed="rId2"/>
          <a:stretch>
            <a:fillRect/>
          </a:stretch>
        </p:blipFill>
        <p:spPr>
          <a:xfrm>
            <a:off x="914399" y="2291714"/>
            <a:ext cx="5669280" cy="318897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matematika operasi konvolusi spasial 2D diskrit versus korelasi silang, penanganan batas (*zero, replicate, reflect padding*), sifat keterpisahan kernel (*separable kernel*) Gaussian 2D menjadi dua penapis 1D, serta formulasi pembobotan geometris dan radiometrik pada penapis bilateral (*Bilateral Filter*).</a:t>
            </a:r>
            <a:br/>
            <a:r>
              <a:t>2. **Menerapkan (C3)** fungsi pustaka OpenCV (`cv2.filter2D`, `cv2.GaussianBlur`, `cv2.medianBlur`, `cv2.bilateralFilter`) untuk mereduksi derau impulsif (*salt-and-pepper*) dan derau termal fotodioda sensor drone, serta merekonstruksi kontur urat daun yang kabur menggunakan teknik *Unsharp Masking* bebas aritmatika *overflow*.</a:t>
            </a:r>
            <a:br/>
            <a:r>
              <a:t>3. **Menganalisis (C4)** perbedaan mendasar performa penapis linier versus penapis non-linier menggunakan evaluasi kuantitatif metrik PSNR (*Peak Signal-to-Noise Ratio*), membuktikan secara analitis efisiensi percepatan komputasi $\mathcal{O}(2K)$ versus $\mathcal{O}(K^2)$, serta memvalidasi kemampuan preservasi garis tepi pelepah daun menggunakan profil penampang intensitas spasial 1D.</a:t>
            </a:r>
            <a:br/>
            <a:br/>
            <a:r>
              <a:t>### 1.2 Kerangka Hasil Pembelajaran (Outputs, Outcomes, &amp; Impacts)</a:t>
            </a:r>
            <a:br/>
            <a:r>
              <a:t>* **Outputs (Keluaran Langsung)**:</a:t>
            </a:r>
            <a:br/>
            <a:r>
              <a:t>  * Penguasaan formulasi analitis konvolusi 2D manual, dekomposisi kernel Gaussian, dan pembobotan bilateral filter.</a:t>
            </a:r>
            <a:br/>
            <a:r>
              <a:t>  * Skrip Python modular berstandar industri untuk pembersihan derau sensor termal dan penajaman tekstur pelepah sawit.</a:t>
            </a:r>
            <a:br/>
            <a:r>
              <a:t>  * Grafik komparasi profil penampang intensitas 1D yang membuktikan keunggulan *edge-preserving filtering*.</a:t>
            </a:r>
            <a:br/>
            <a:r>
              <a:t>* **Outcomes (Kompetensi Aplikatif)**:</a:t>
            </a:r>
            <a:br/>
            <a:r>
              <a:t>  * Keahlian memilih penapis spasial yang tepat berdasarkan jenis degradasi fisik citra (derau bintik sensorik vs derau Gaussian vs tepi tumpul).</a:t>
            </a:r>
            <a:br/>
            <a:r>
              <a:t>  * Kemampuan mengoptimalkan operasi penapisan pada aliran video waktu nyata (*real-time processing*) di perangkat komputasi tepi (*edge hardware*).</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Operasi Filter Spasial dan Konvolusi 2D: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PART-10 • AI Modul 10.5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10.5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10.5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Operasi Filter Spasial dan Konvolusi 2D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