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10.6: Deteksi Tepi dan Gradien Citra</a:t>
            </a:r>
          </a:p>
          <a:p>
            <a:pPr>
              <a:spcBef>
                <a:spcPts val="1200"/>
              </a:spcBef>
              <a:defRPr sz="1600">
                <a:solidFill>
                  <a:srgbClr val="94A3B8"/>
                </a:solidFill>
              </a:defRPr>
            </a:pPr>
            <a:r>
              <a:t>Bagian 10: Pelatihan, Optimasi, dan Regularisasi Deep Learning</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10.6</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konsep kalkulus diferensial spasial diskrit, representasi vektor gradien 2D, hubungan ortogonalitas antara arah vektor gradien dengan arah fisik garis tepi, prinsip deteksi persilangan nol (zero-crossings) pada operator Laplacian/LoG, serta kriteria optimalitas algoritma Canny Edge Detector.</a:t>
            </a:r>
          </a:p>
          <a:p>
            <a:pPr>
              <a:spcAft>
                <a:spcPts val="400"/>
              </a:spcAft>
              <a:defRPr sz="1100">
                <a:solidFill>
                  <a:srgbClr val="334155"/>
                </a:solidFill>
              </a:defRPr>
            </a:pPr>
            <a:r>
              <a:t>•  Menerapkan (C3) operator turunan pertama (Sobel, Prewitt, Scharr) dengan preservasi nilai bertanda (`cv2.CV_64F`) dan algoritma Canny (`cv2.Canny`) untuk mengekstraksi siluet pelepah kelapa sawit dan batas individual brondolan pada tandan buah segar (TBS) di meja konveyor.</a:t>
            </a:r>
          </a:p>
          <a:p>
            <a:pPr>
              <a:spcAft>
                <a:spcPts val="400"/>
              </a:spcAft>
              <a:defRPr sz="1100">
                <a:solidFill>
                  <a:srgbClr val="334155"/>
                </a:solidFill>
              </a:defRPr>
            </a:pPr>
            <a:r>
              <a:t>•  Menganalisis (C4) mekanisme penekanan non-maksimum (Non-Maximum Suppression / NMS) melalui kuantisasi sudut ke dalam empat sektor arah (0^\circ, 45^\circ, 90^\circ, 135^\circ), menala pasangan ambang batas histeresis (T_{\text{low}}, T_{\text{high}}) untuk mencegah fragmentasi kontur pelepah, serta mengukur perimeter kanopi fisik riil terkalibrasi skala spasial GSD.</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10.6</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Deteksi Tepi dan Gradien Citra.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G_x approx fracf(x + 1, y) - f(x - 1, y)2,    G_y approx fracf(x, y + 1) - f(x, </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Deteksi Tepi dan Gradien Citra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10.6</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METODOLOGI DETEKSI TEPI DAN ANALISIS GRADIEN </a:t>
            </a:r>
          </a:p>
        </p:txBody>
      </p:sp>
      <p:pic>
        <p:nvPicPr>
          <p:cNvPr id="12" name="Picture 11" descr="deteksi_tepi_dan_gradien_citra_agrokompleks.png"/>
          <p:cNvPicPr>
            <a:picLocks noChangeAspect="1"/>
          </p:cNvPicPr>
          <p:nvPr/>
        </p:nvPicPr>
        <p:blipFill>
          <a:blip r:embed="rId2"/>
          <a:stretch>
            <a:fillRect/>
          </a:stretch>
        </p:blipFill>
        <p:spPr>
          <a:xfrm>
            <a:off x="914399" y="2291714"/>
            <a:ext cx="5669280" cy="318897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10.6</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konsep kalkulus diferensial spasial diskrit, representasi vektor gradien 2D, hubungan ortogonalitas antara arah vektor gradien dengan arah fisik garis tepi, prinsip deteksi persilangan nol (*zero-crossings*) pada operator Laplacian/LoG, serta kriteria optimalitas algoritma Canny Edge Detector.</a:t>
            </a:r>
            <a:br/>
            <a:r>
              <a:t>2. **Menerapkan (C3)** operator turunan pertama (Sobel, Prewitt, Scharr) dengan preservasi nilai bertanda (`cv2.CV_64F`) dan algoritma Canny (`cv2.Canny`) untuk mengekstraksi siluet pelepah kelapa sawit dan batas individual brondolan pada tandan buah segar (TBS) di meja konveyor.</a:t>
            </a:r>
            <a:br/>
            <a:r>
              <a:t>3. **Menganalisis (C4)** mekanisme penekanan non-maksimum (*Non-Maximum Suppression / NMS*) melalui kuantisasi sudut ke dalam empat sektor arah ($0^\circ, 45^\circ, 90^\circ, 135^\circ$), menala pasangan ambang batas histeresis ($T_{\text{low}}, T_{\text{high}}$) untuk mencegah fragmentasi kontur pelepah, serta mengukur perimeter kanopi fisik riil terkalibrasi skala spasial GSD.</a:t>
            </a:r>
            <a:br/>
            <a:br/>
            <a:r>
              <a:t>### 1.2 Kerangka Hasil Pembelajaran (Outputs, Outcomes, &amp; Impacts)</a:t>
            </a:r>
            <a:br/>
            <a:r>
              <a:t>* **Outputs (Keluaran Langsung)**:</a:t>
            </a:r>
            <a:br/>
            <a:r>
              <a:t>  * Penguasaan formulasi analitis turunan parsial spasial, magnitudo Euclidean gradien, dan pelacakan kontur histeresis.</a:t>
            </a:r>
            <a:br/>
            <a:r>
              <a:t>  * Skrip Python modular berstandar industri untuk deteksi tepi kanopi sawit dan estimasi keliling perimeter tajuk.</a:t>
            </a:r>
            <a:br/>
            <a:r>
              <a:t>  * Visualisasi komparatif peta gradien horizontal, vertikal, dan kontur biner 1-piksel.</a:t>
            </a:r>
            <a:br/>
            <a:r>
              <a:t>* **Outcomes (Kompetensi Aplikatif)**:</a:t>
            </a:r>
            <a:br/>
            <a:r>
              <a:t>  * Keahlian dalam memetakan kontur terluar kanopi pohon kelapa sawit (*canopy crown boundary*) dari ortofoto drone beresolusi tinggi.</a:t>
            </a:r>
            <a:br/>
            <a:r>
              <a:t>  * Kemampuan mengidentifikasi arah orientasi barisan tanaman (*crop rows*) untuk kendali kemudi traktor otonom.</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10.6</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Deteksi Tepi dan Gradien Citra: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10.6</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10.6</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10.6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Deteksi Tepi dan Gradien Citra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