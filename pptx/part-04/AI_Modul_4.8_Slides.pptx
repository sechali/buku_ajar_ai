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4.8: Persiapan Dataset untuk AI</a:t>
            </a:r>
          </a:p>
          <a:p>
            <a:pPr>
              <a:spcBef>
                <a:spcPts val="1200"/>
              </a:spcBef>
              <a:defRPr sz="1600">
                <a:solidFill>
                  <a:srgbClr val="94A3B8"/>
                </a:solidFill>
              </a:defRPr>
            </a:pPr>
            <a:r>
              <a:t>Bagian 4: Pengolahan, Analisis, dan Visualisasi Data Ilmiah</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4.8</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konsep penskalaan fitur: standardisasi (Z-Score Normalization) versus min-max scaling ([0, 1] Normalization) serta implikasinya pada algoritma berbasis jarak.</a:t>
            </a:r>
          </a:p>
          <a:p>
            <a:pPr>
              <a:spcAft>
                <a:spcPts val="400"/>
              </a:spcAft>
              <a:defRPr sz="1100">
                <a:solidFill>
                  <a:srgbClr val="334155"/>
                </a:solidFill>
              </a:defRPr>
            </a:pPr>
            <a:r>
              <a:t>•  Menerapkan (C3) teknik pengkodean variabel kategorikal (One-Hot Encoding, Ordinal Encoding, Target Encoding) pada data jenis tanah dan varietas bibit.</a:t>
            </a:r>
          </a:p>
          <a:p>
            <a:pPr>
              <a:spcAft>
                <a:spcPts val="400"/>
              </a:spcAft>
              <a:defRPr sz="1100">
                <a:solidFill>
                  <a:srgbClr val="334155"/>
                </a:solidFill>
              </a:defRPr>
            </a:pPr>
            <a:r>
              <a:t>•  Menganalisis (C4) dampak ketidakseimbangan kelas (Class Imbalance) dan menerapkan teknik penyeimbangan data (SMOTE, Random Undersampling).</a:t>
            </a:r>
          </a:p>
          <a:p>
            <a:pPr>
              <a:spcAft>
                <a:spcPts val="400"/>
              </a:spcAft>
              <a:defRPr sz="1100">
                <a:solidFill>
                  <a:srgbClr val="334155"/>
                </a:solidFill>
              </a:defRPr>
            </a:pPr>
            <a:r>
              <a:t>•  Merancang (C3) arsitektur partisi dataset terstratifikasi (Stratified Train-Test Split) yang sepenuhnya bebas dari kebocoran data (data leakage).</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4.8</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Persiapan Dataset untuk AI.</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fracn_k, cn_k approx fracN_cN    forall k in 1, dots, K, , c in 1, dots, C</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Persiapan Dataset untuk AI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4.8</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PARTISI DATASET AI: TRAIN-VAL-TEST</a:t>
            </a:r>
          </a:p>
        </p:txBody>
      </p:sp>
      <p:pic>
        <p:nvPicPr>
          <p:cNvPr id="12" name="Picture 11" descr="pembagian_dataset_train_val_test_dan_stratifikasi.png"/>
          <p:cNvPicPr>
            <a:picLocks noChangeAspect="1"/>
          </p:cNvPicPr>
          <p:nvPr/>
        </p:nvPicPr>
        <p:blipFill>
          <a:blip r:embed="rId2"/>
          <a:stretch>
            <a:fillRect/>
          </a:stretch>
        </p:blipFill>
        <p:spPr>
          <a:xfrm>
            <a:off x="914399" y="2232660"/>
            <a:ext cx="5669280" cy="330708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4.8</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konsep penskalaan fitur: standardisasi ($Z$-Score Normalization) versus min-max scaling ($[0, 1]$ Normalization) serta implikasinya pada algoritma berbasis jarak.</a:t>
            </a:r>
            <a:br/>
            <a:r>
              <a:t>2. **Menerapkan (C3)** teknik pengkodean variabel kategorikal (*One-Hot Encoding*, *Ordinal Encoding*, *Target Encoding*) pada data jenis tanah dan varietas bibit.</a:t>
            </a:r>
            <a:br/>
            <a:r>
              <a:t>3. **Menganalisis (C4)** dampak ketidakseimbangan kelas (*Class Imbalance*) dan menerapkan teknik penyeimbangan data (SMOTE, Random Undersampling).</a:t>
            </a:r>
            <a:br/>
            <a:r>
              <a:t>4. **Merancang (C3)** arsitektur partisi dataset terstratifikasi (*Stratified Train-Test Split*) yang sepenuhnya bebas dari kebocoran data (*data leakage*).</a:t>
            </a:r>
            <a:br/>
            <a:br/>
            <a:r>
              <a:t>### 1.2 Kerangka Hasil Pembelajaran (Outputs, Outcomes, &amp; Impacts)</a:t>
            </a:r>
            <a:br/>
            <a:r>
              <a:t>* **Outputs (Keluaran Berwujud Langsung)**:</a:t>
            </a:r>
            <a:br/>
            <a:r>
              <a:t>  * Memisahkan tabel data relasional menjadi matriks fitur prediktor dua dimensi ($X \in \mathbb{R}^{n \times d}$) dan vektor target satu dimensi ($y \in \mathbb{R}^n$) sesuai formulasi matematika pembelajaran terawasi (*supervised learning*).</a:t>
            </a:r>
            <a:br/>
            <a:r>
              <a:t>  * Menerapkan partisi data ilmiah: *Train-Validation-Test Split* dan *Stratified K-Fold Cross Validation* dengan penguncian benih acak (*reproducible random seed*).</a:t>
            </a:r>
            <a:br/>
            <a:r>
              <a:t>  * Mengidentifikasi dan mengeliminasi dua bentuk utama kebocoran data (*data leakage*): *train-test contamination* dan *target leakage*.</a:t>
            </a:r>
            <a:br/>
            <a:r>
              <a:t>  * Mentransformasikan variabel kategorikal heterogen (nominal dan ordinal) menggunakan *One-Hot Encoding* dan *Ordinal/Target Encoding*.</a:t>
            </a:r>
            <a:br/>
            <a:r>
              <a:t>  * Menstandarisasi fitur numerik kontinu menggunakan *StandardScaler* ($Z$-score) dan *RobustScaler* (berbasis median-IQR) untuk algoritma berbasis jarak dan gradien.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4.8</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Persiapan Dataset untuk AI: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4.8</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PART-04 • AI Modul 4.8</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4.8</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4.8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Persiapan Dataset untuk AI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