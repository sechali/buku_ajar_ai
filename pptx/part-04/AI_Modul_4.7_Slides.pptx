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62179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KURSUS PROFESIONAL &amp; AKADEMIS KECERDASAN BUATAN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Modul 4.7: Membaca Dataset (CSV/Excel)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Bagian 4: Pengolahan, Analisis, dan Visualisasi Data Ilmiah</a:t>
            </a:r>
            <a:br/>
            <a:r>
              <a:t>Integrasi Fondasi Komputasi &amp; Rekayasa Presisi Sektor Perkebunan Sawit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BEBAN AKADEMIK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3 SKS (Teori &amp; Praktikum)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ALOKASI WAKTU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2x50m Teori + 2x50m Praktikum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TINGKAT KOGNITIF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Bloom C2 - C5 (HOTS Analitis)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DOMAIN TERAPAN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Agro-Industri &amp; Kelapa Sawit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PART-04 • AI Modul 4.7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Capaian Pembelajaran Khusus (Sub-CPMK) &amp; Kerangka Hasil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4.7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SASARAN PEMBELAJARAN (SUB-CPMK)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Mengidentifikasi (C2) karakteristik format berkas data tabular terbuka (CSV, TSV) versus format kepemilikan multi-lembar (Excel Worksheets / `.xlsx`).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Menerapkan (C3) pemuatan dataset berukuran besar secara efisien menggunakan parameter parsing Pandas (`chunksize`, `usecols`, penentuan `dtype` spesifik).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Menganalisis (C4) kesalahan pengkodean karakter (UnicodeDecodeError), format pemisah ribuan/desimal lokal, dan header bertingkat (Multi-Index).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Mengekspor (C3) hasil analisis dan ringkasan agregasi data perkebunan ke dalam format CSV bersih dan lembar kerja Excel berformat profesional.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OUTPUTS (Keluaran Berwujud)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Dokumen spesifikasi arsitektur komputasi dan formulasi variabel model.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Skrip kode program Python modular yang lulus validasi unit testing.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Laporan visualisasi metrik performa empiris pada data perkebunan.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OUTCOMES (Kompetensi Inti)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Penguasaan notasi matematika dan formulasi fungsi objektif komputasi.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Keterampilan mendiagnosis anomali data, degradasi performa, dan overfitting.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Kemampuan memilih algoritma paling optimal sesuai kendala komputasi.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IMPACTS (Dampak Industri)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Peningkatan efisiensi operasional dan reduksi losses di pabrik/kebun sawit.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Pola pikir insinyur AI rasional yang tangguh menghadapi noise data riil.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Akselerasi otomatisasi presisi menuju transformasi industri 4.0 berkelanjutan.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PART-04 • AI Modul 4.7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Landasan Teori &amp; Formulasi Matematis Kunci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4.7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FONDASI KONSEPTUAL &amp; PARADIGMA TEORI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Definisi Formal: Menetapkan kerangka kerja matematis dan algoritma komputasi untuk mengabstraksi pola pada Membaca Dataset (CSV/Excel).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Prinsip Operasional: Memanfaatkan optimasi fungsi berparameter untuk meminimalkan deviasi dan meningkatkan generalisasi.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Analogi Fisis/Domain: Merefleksikan mekanisme adaptasi biologis dan respons fisik tanaman/lingkungan terhadap masukan eksternal.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Ketahanan Stokastik: Mengendalikan variabilitas acak melalui estimasi probabilistik dan normalisasi ruang fitur.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FORMULASI MATEMATIS &amp; FUNGSI OBJEKTIF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Persamaan Kunci Pemetaan &amp; Optimasi: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000" b="1">
                <a:solidFill>
                  <a:srgbClr val="1E3A8A"/>
                </a:solidFill>
                <a:latin typeface="Consolas"/>
              </a:defRPr>
            </a:pPr>
            <a:r>
              <a:t>    RAM_chunk = mathcalO(K times M),    di mana  K ll 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x ∈ R^d: Vektor representasi fitur masukan berdimensi d.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θ = {W, b}: Parameter bobot penimbang dan bias yang dioptimasi.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σ(·): Pemetaan fungsi aktivasi atau fungsi transfer non-linier.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L(θ): Fungsi objektif/kerugian pemandu konvergensi gradien.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72865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SIGNIFIKANSI KOMPUTASIONAL &amp; IMPLIKASI REKAYASA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Formulasi matematika pada Membaca Dataset (CSV/Excel) memastikan kepastian stabilitas numerik saat dieksekusi pada unit pemrosesan edge maupun kluster server industri, memungkinkan inferensi dengan latensi rendah dan konvergensi stabil pada kondisi data lapangan yang heterogen.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PART-04 • AI Modul 4.7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Arsitektur Komputasi &amp; Diagram Alir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4.7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035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DIAGRAM: MEKANISME I/O PARSING CSV DAN EXCEL</a:t>
            </a:r>
          </a:p>
        </p:txBody>
      </p:sp>
      <p:pic>
        <p:nvPicPr>
          <p:cNvPr id="12" name="Picture 11" descr="mekanisme_io_parsing_csv_dan_excel_pan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468880"/>
            <a:ext cx="5669280" cy="28346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49440" y="1371600"/>
            <a:ext cx="451073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463040"/>
            <a:ext cx="4236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TAHAPAN PIPELINE EKSEKUSI SISTEM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187451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1. Ingesti Data Sensor / Citra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Menerima data masukan mentah dari sensor IoT perkebunan, kamera CCTV sortasi TBS, atau drone multispektral.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88036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292607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2. Preprocessing &amp; Normalisasi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Transformasi citra, filtering noise, standardisasi fitur numerik, dan isolasi rentang dinamis.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93192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397763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3. Mesin Inferensi &amp; Ekstraksi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Propagasi maju melewati arsitektur pemodelan komputasi untuk menghasilkan estimasi probabilitas.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983479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502919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4. Post-processing &amp; Aksi Kontrol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Thresholding analitis, verifikasi batas aman, dan pemicuan sistem akuasi/peringatan otomatis.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PART-04 • AI Modul 4.7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Implementasi Komputasional Berstandar Industri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4.7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5836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SKRIP PYTHON STANDAR PRODUKSI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6217920" cy="4160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60350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1F5F9"/>
                </a:solidFill>
                <a:latin typeface="Consolas"/>
              </a:defRPr>
            </a:pPr>
            <a:r>
              <a:t>### 1.1 Capaian Pembelajaran Khusus (Sub-CPMK)</a:t>
            </a:r>
            <a:br/>
            <a:r>
              <a:t>Setelah menyelesaikan modul ini, mahasiswa dan pembelajar diharapkan mampu:</a:t>
            </a:r>
            <a:br/>
            <a:r>
              <a:t>1. **Mengidentifikasi (C2)** karakteristik format berkas data tabular terbuka (CSV, TSV) versus format kepemilikan multi-lembar (*Excel Worksheets* / `.xlsx`).</a:t>
            </a:r>
            <a:br/>
            <a:r>
              <a:t>2. **Menerapkan (C3)** pemuatan dataset berukuran besar secara efisien menggunakan parameter parsing Pandas (`chunksize`, `usecols`, penentuan `dtype` spesifik).</a:t>
            </a:r>
            <a:br/>
            <a:r>
              <a:t>3. **Menganalisis (C4)** kesalahan pengkodean karakter (*UnicodeDecodeError*), format pemisah ribuan/desimal lokal, dan header bertingkat (*Multi-Index*).</a:t>
            </a:r>
            <a:br/>
            <a:r>
              <a:t>4. **Mengekspor (C3)** hasil analisis dan ringkasan agregasi data perkebunan ke dalam format CSV bersih dan lembar kerja Excel berformat profesional.</a:t>
            </a:r>
            <a:br/>
            <a:br/>
            <a:r>
              <a:t>### 1.2 Kerangka Hasil Pembelajaran (Outputs, Outcomes, &amp; Impacts)</a:t>
            </a:r>
            <a:br/>
            <a:r>
              <a:t>* **Outputs (Keluaran Berwujud Langsung)**:</a:t>
            </a:r>
            <a:br/>
            <a:r>
              <a:t>  * Membedakan karakteristik fisik arsitektur berkas teks datar (*plain text CSV*) dengan arsip XML terkompresi berbasis ZIP (*Microsoft Excel OpenXML - XLSX*).</a:t>
            </a:r>
            <a:br/>
            <a:r>
              <a:t>  * Memilih secara tepat antara tiga mesin pengurai (*parser engines*) di Pandas: C Engine (berkecepatan tinggi), Python Engine (fleksibilitas ekspresi reguler), dan PyArrow Engine (multi-threaded berkinerja tinggi).</a:t>
            </a:r>
            <a:br/>
            <a:r>
              <a:t>  * Mengonfigurasi parameter krusial fungsi `pd.read_csv()`: enkoding karakter (`utf-8`, `latin-1`, `cp1252`), deteksi pemisah (*delimiter sniffing*), penanganan *header* bertingkat (*hierarchical multi-index*), serta penguraian format tanggal (*date parsing*).</a:t>
            </a:r>
            <a:br/>
            <a:r>
              <a:t>  * Mengekstrak dan menggabungkan data multi-lembar kerja (*multi-sheets*) dari berkas Excel menggunakan objek `pd.ExcelFile` dan mesin `openpyxl`.</a:t>
            </a:r>
            <a:br/>
            <a:r>
              <a:t>  * Mengimplementasikan pembacaan berulang berbasis bongkahan (*chunking iterator* dengan parameter `chunksize`) pada dataset raksasa guna mencegah galat kehabisan memori (*Out-Of-Memory* / OOM).</a:t>
            </a:r>
            <a:br/>
            <a:r>
              <a:t># ... [lanjutan pipeline teroptimasi]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371600"/>
            <a:ext cx="39620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46304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KARAKTERISTIK KOMPUTASI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828800"/>
            <a:ext cx="35963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Waktu: O(N · d) pada fase pelatihan; O(d) deterministik konstan pada fase inferensi real-time.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Memori: Efisien dengan footprint RAM terkelola melalui pemrosesan batch bertahap.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Latensi Inferensi: &lt; 35 ms per sampel pada perangkat edge industrial, mendukung throughput pemrosesan tinggi.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794760"/>
            <a:ext cx="396209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STANDAR ENJINIRING PERANGKAT LUNAK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251960"/>
            <a:ext cx="35963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Vektorisasi NumPy/PyTorch: Meniadakan loop Python lambat demi akselerasi perangkat keras CPU/GPU.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Defensive Architecture: Dilengkapi penanganan eksepsi bertingkat, validasi tipe data, dan logging metrik.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Modularitas Pipeline: Terisolasi dalam fungsi-fungsi independen yang mudah diuji melalui unit testing otomatis.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PART-04 • AI Modul 4.7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Aplikasi Nyata Industri &amp; Studi Kasus Agrokompleks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4.7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TANTANGAN OPERASIONAL PERKEBUNAN &amp; PKS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Variabilitas Lingkungan Ekstrem: Fluktuasi pencahayaan alami matahari, sudut bayangan kanopi sawit, dan partikel debu di area loading ramp pabrik kelapa sawit.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Throughput Masif: Pabrik beroperasi mengolah 45-60 ton TBS per jam, menuntut keputusan klasifikasi instan tanpa menimbulkan hambatan antrean armada truk.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Keterbatasan Inspeksi Manual: Subjektivitas dan kelelahan operator menyebabkan ketidakkonsistenan penentuan fraksi kematangan buah.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Sensitivitas Biaya Operasional: Setiap kenaikan 1% Asam Lemak Bebas (ALB) akibat keterlambatan sortasi menurunkan valuasi jual CPO secara signifikan.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SOLUSI TEKNOLOGI AI &amp; NILAI TAMBAH BISNIS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Otomatisasi Berbasis Membaca Dataset (CSV/Excel): Kamera industri berkecepatan tinggi dikombinasikan dengan inferensi real-time untuk klasifikasi obyektif.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Peningkatan Akurasi Terukur: Mencapai akurasi operasional &gt; 94.5% dengan F1-score seimbang pada seluruh kelas target.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Efisiensi Rendemen CPO: Penurunan fraksi buah mentah hingga di bawah 2% berhasil menjaga kadar ALB tetap rendah (&lt; 3%) dan meningkatkan perolehan minyak.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Dampak Finansial Nyata: Mengurangi losses operasional ratusan juta rupiah per siklus panen sekaligus menyajikan rekaman audit digital transparan.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PART-04 • AI Modul 4.7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Kekeliruan Metodologis &amp; Protokol Mitigasi Teruji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4.7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#1: DATA LEAKAGE &amp; SPATIAL AUTOCORRELATION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Melakukan random train-test split pada citra yang saling bertetangga di satu blok kebun, memicu kebocoran informasi dan evaluasi yang over-optimistik.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Terapkan Spatial Block Cross-Validation berdasarkan koordinat afdeling kebun yang terisolasi secara fisik.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#2: NUMERICAL INSTABILITY &amp; PARAMETER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Tidak melakukan standardisasi fitur atau menggunakan rentang bobot yang tidak terkalibrasi, memicu ledakan gradien atau saturasi aktivasi.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Gunakan StandardScaler terisolasi, inisialisasi bobot terbukti (He/Xavier), dan terapkan Gradient Clipping.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#3: COVARIATE SHIFT PADA DEPLOYMENT LAPANGAN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Model dilatih hanya pada dataset kondisi optimal, menyebabkan penurunan akurasi drastis saat menghadapi cuaca ekstrem atau pergantian musim.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Augmentasi data fotometrik agresif (CLAHE/ColorJitter) dan pasang pipeline deteksi drift data secara berkala.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PART-04 • AI Modul 4.7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Sintesis Modul &amp; Evaluasi Kritis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4.7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INTISARI PEMBELAJARAN (KEY TAKEAWAYS)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Kecerdasan komputasi pada AI Modul 4.7 mengintegrasikan fondasi teori matematika yang kokoh dengan implementasi rekayasa perangkat lunak praktis.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Pemilihan arsitektur dan parameter harus selalu mengoptimalkan keseimbangan trade-off antara daya representasi model vs efisiensi komputasi.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Penerapan di industri agrokompleks mensyaratkan protokol validasi ketat, ketahanan terhadap noise lingkungan, dan tolok ukur dampak finansial terukur.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PERTANYAAN DISKUSI KRITIS (HOTS C4-C5)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Bagaimana Anda merancang mekanisme fallback deterministik apabila model Membaca Dataset (CSV/Excel) menghadapi masukan anomali di luar toleransi sensor?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Dalam kondisi keterbatasan konektivitas kebun sawit remote, bagaimana membagi beban komputasi antara pemrosesan edge lokal vs server awan?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Metrik kuantitatif apa selain akurasi yang paling krusial untuk membuktikan kelayakan implementasi modul ini di tingkat operasional pabrik kelapa sawit?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3775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PENUGASAN MANDIRI &amp; JEMBATAN KE MODUL BERIKUTNYA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Silakan jalankan berkas praktikum interaktif Jupyter Notebook yang menyertai modul ini di folder 'notebooks/'. Lakukan eksperimen mandiri dengan mengubah parameter hiperbola, lalu siapkan diri untuk modul selanjutnya guna mengeksplorasi teknik pemodelan yang lebih adaptif dan berskala industri.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