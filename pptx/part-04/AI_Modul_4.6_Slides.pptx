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621792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KURSUS PROFESIONAL &amp; AKADEMIS KECERDASAN BUATAN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 Modul 4.6: Visualisasi Data (Matplotlib &amp; Seaborn)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Bagian 4: Pengolahan, Analisis, dan Visualisasi Data Ilmiah</a:t>
            </a:r>
            <a:br/>
            <a:r>
              <a:t>Integrasi Fondasi Komputasi &amp; Rekayasa Presisi Sektor Perkebunan Sawit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937760"/>
            <a:ext cx="242316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98348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BEBAN AKADEMIK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3 SKS (Teori &amp; Praktikum)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4937760"/>
            <a:ext cx="242316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498348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ALOKASI WAKTU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2x50m Teori + 2x50m Praktikum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937760"/>
            <a:ext cx="242316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498348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TINGKAT KOGNITIF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Bloom C2 - C5 (HOTS Analitis)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4937760"/>
            <a:ext cx="242316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19" y="498348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DOMAIN TERAPAN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Agro-Industri &amp; Kelapa Sawit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PART-04 • AI Modul 4.6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Capaian Pembelajaran Khusus (Sub-CPMK) &amp; Kerangka Hasil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4.6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10728655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SASARAN PEMBELAJARAN (SUB-CPMK)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Mengidentifikasi (C2) hierarki objek grafis Matplotlib (`Figure`, `Axes`, `Axis`) dan arsitektur visualisasi statistika tingkat tinggi Seaborn.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Menerapkan (C3) pembuatan grafik univariat dan bivariat yang informatif (histogram, boxplot, violin plot, scatter plot, dan heatmap korelasi).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Menganalisis (C4) pola spasial dan temporal kebun melalui visualisasi multi-panel (Faceted Grids) dengan penerapan prinsip Data-to-Ink Ratio Edward Tufte.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Menghasilkan (C3) grafik visual beresolusi publikasi (300 DPI) dengan palet warna aksesibel dan label bersatuan agronomi baku.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3456432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49039"/>
            <a:ext cx="31821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OUTPUTS (Keluaran Berwujud)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14800"/>
            <a:ext cx="31821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Dokumen spesifikasi arsitektur komputasi dan formulasi variabel model.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Skrip kode program Python modular yang lulus validasi unit testing.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Laporan visualisasi metrik performa empiris pada data perkebunan.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3657600"/>
            <a:ext cx="3456432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3749039"/>
            <a:ext cx="31821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OUTCOMES (Kompetensi Inti)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4114800"/>
            <a:ext cx="31821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Penguasaan notasi matematika dan formulasi fungsi objektif komputasi.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Keterampilan mendiagnosis anomali data, degradasi performa, dan overfitting.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Kemampuan memilih algoritma paling optimal sesuai kendala komputasi.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3657600"/>
            <a:ext cx="3456432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47304" y="3749039"/>
            <a:ext cx="31821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IMPACTS (Dampak Industri)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7304" y="4114800"/>
            <a:ext cx="31821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Peningkatan efisiensi operasional dan reduksi losses di pabrik/kebun sawit.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Pola pikir insinyur AI rasional yang tangguh menghadapi noise data riil.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Akselerasi otomatisasi presisi menuju transformasi industri 4.0 berkelanjutan.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PART-04 • AI Modul 4.6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Landasan Teori &amp; Formulasi Matematis Kunci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4.6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FONDASI KONSEPTUAL &amp; PARADIGMA TEORI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Definisi Formal: Menetapkan kerangka kerja matematis dan algoritma komputasi untuk mengabstraksi pola pada Visualisasi Data (Matplotlib &amp; Seaborn).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Prinsip Operasional: Memanfaatkan optimasi fungsi berparameter untuk meminimalkan deviasi dan meningkatkan generalisasi.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Analogi Fisis/Domain: Merefleksikan mekanisme adaptasi biologis dan respons fisik tanaman/lingkungan terhadap masukan eksternal.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Ketahanan Stokastik: Mengendalikan variabilitas acak melalui estimasi probabilistik dan normalisasi ruang fitur.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42255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63040"/>
            <a:ext cx="49679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FORMULASI MATEMATIS &amp; FUNGSI OBJEKTIF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876495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Persamaan Kunci Pemetaan &amp; Optimasi: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000" b="1">
                <a:solidFill>
                  <a:srgbClr val="1E3A8A"/>
                </a:solidFill>
                <a:latin typeface="Consolas"/>
              </a:defRPr>
            </a:pPr>
            <a:r>
              <a:t>    CI_0.95 = [theta^*_0.025, theta^*_0.975]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x ∈ R^d: Vektor representasi fitur masukan berdimensi d.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θ = {W, b}: Parameter bobot penimbang dan bias yang dioptimasi.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σ(·): Pemetaan fungsi aktivasi atau fungsi transfer non-linier.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L(θ): Fungsi objektif/kerugian pemandu konvergensi gradien.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00600"/>
            <a:ext cx="10728655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89204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SIGNIFIKANSI KOMPUTASIONAL &amp; IMPLIKASI REKAYASA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6636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Formulasi matematika pada Visualisasi Data (Matplotlib &amp; Seaborn) memastikan kepastian stabilitas numerik saat dieksekusi pada unit pemrosesan edge maupun kluster server industri, memungkinkan inferensi dengan latensi rendah dan konvergensi stabil pada kondisi data lapangan yang heterogen.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PART-04 • AI Modul 4.6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Arsitektur Komputasi &amp; Diagram Alir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4.6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603504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DIAGRAM: ANATOMI ARSITEKTUR MATPLOTLIB DAN SEABORN</a:t>
            </a:r>
          </a:p>
        </p:txBody>
      </p:sp>
      <p:pic>
        <p:nvPicPr>
          <p:cNvPr id="12" name="Picture 11" descr="anatomi_arsitektur_matplotlib_dan_seabo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2374392"/>
            <a:ext cx="5669280" cy="302361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949440" y="1371600"/>
            <a:ext cx="4510735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1463040"/>
            <a:ext cx="4236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TAHAPAN PIPELINE EKSEKUSI SISTEM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1828800"/>
            <a:ext cx="4144975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59" y="1874519"/>
            <a:ext cx="3962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1. Ingesti Data Sensor / Citra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Menerima data masukan mentah dari sensor IoT perkebunan, kamera CCTV sortasi TBS, atau drone multispektral.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2880360"/>
            <a:ext cx="4144975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59" y="2926079"/>
            <a:ext cx="3962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2. Preprocessing &amp; Normalisasi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Transformasi citra, filtering noise, standardisasi fitur numerik, dan isolasi rentang dinamis.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3931920"/>
            <a:ext cx="4144975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59" y="3977639"/>
            <a:ext cx="3962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3. Mesin Inferensi &amp; Ekstraksi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Propagasi maju melewati arsitektur pemodelan komputasi untuk menghasilkan estimasi probabilitas.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4983479"/>
            <a:ext cx="4144975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59" y="5029199"/>
            <a:ext cx="3962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4. Post-processing &amp; Aksi Kontrol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Thresholding analitis, verifikasi batas aman, dan pemicuan sistem akuasi/peringatan otomatis.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PART-04 • AI Modul 4.6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Implementasi Komputasional Berstandar Industri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4.6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658368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6309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SKRIP PYTHON STANDAR PRODUKSI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828800"/>
            <a:ext cx="6217920" cy="4160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74519"/>
            <a:ext cx="6035040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1F5F9"/>
                </a:solidFill>
                <a:latin typeface="Consolas"/>
              </a:defRPr>
            </a:pPr>
            <a:r>
              <a:t>### 1.1 Capaian Pembelajaran Khusus (Sub-CPMK)</a:t>
            </a:r>
            <a:br/>
            <a:r>
              <a:t>Setelah menyelesaikan modul ini, mahasiswa dan pembelajar diharapkan mampu:</a:t>
            </a:r>
            <a:br/>
            <a:r>
              <a:t>1. **Mengidentifikasi (C2)** hierarki objek grafis Matplotlib (`Figure`, `Axes`, `Axis`) dan arsitektur visualisasi statistika tingkat tinggi Seaborn.</a:t>
            </a:r>
            <a:br/>
            <a:r>
              <a:t>2. **Menerapkan (C3)** pembuatan grafik univariat dan bivariat yang informatif (histogram, boxplot, violin plot, scatter plot, dan heatmap korelasi).</a:t>
            </a:r>
            <a:br/>
            <a:r>
              <a:t>3. **Menganalisis (C4)** pola spasial dan temporal kebun melalui visualisasi multi-panel (*Faceted Grids*) dengan penerapan prinsip *Data-to-Ink Ratio* Edward Tufte.</a:t>
            </a:r>
            <a:br/>
            <a:r>
              <a:t>4. **Menghasilkan (C3)** grafik visual beresolusi publikasi (300 DPI) dengan palet warna aksesibel dan label bersatuan agronomi baku.</a:t>
            </a:r>
            <a:br/>
            <a:br/>
            <a:r>
              <a:t>### 1.2 Kerangka Hasil Pembelajaran (Outputs, Outcomes, &amp; Impacts)</a:t>
            </a:r>
            <a:br/>
            <a:r>
              <a:t>* **Outputs (Keluaran Berwujud Langsung)**:</a:t>
            </a:r>
            <a:br/>
            <a:r>
              <a:t>  * Menjelaskan hierarki struktural objek Matplotlib (`Figure`, `Axes`, `Axis`, `Spines`, `Ticks`, dan `Artists`) serta membedakan paradigma *Object-Oriented API* dari paradigma *Pyplot State-Machine*.</a:t>
            </a:r>
            <a:br/>
            <a:r>
              <a:t>  * Membedakan fungsi tingkat figur (*Figure-level*) seperti `relplot`, `displot`, `catplot` dengan fungsi tingkat sumbu (*Axes-level*) seperti `scatterplot`, `histplot`, `boxplot` pada pustaka Seaborn.</a:t>
            </a:r>
            <a:br/>
            <a:r>
              <a:t>  * Memilih tipe grafik visualisasi yang tepat berdasarkan karakteristik struktur data (distribusi, komparasi, relasi, komposisi, atau spasial).</a:t>
            </a:r>
            <a:br/>
            <a:r>
              <a:t>  * Menghitung dan menerapkan rasio tinta-data (*Data-Ink Ratio*) Edward Tufte untuk mengeliminasi gangguan visual (*chartjunk*).</a:t>
            </a:r>
            <a:br/>
            <a:r>
              <a:t>  * Menerapkan palet warna perseptual seragam dan ramah buta warna (*viridis*, *cividis*, *colorblind*) pada visualisasi citra multispektral dan matriks korelasi.</a:t>
            </a:r>
            <a:br/>
            <a:r>
              <a:t># ... [lanjutan pipeline teroptimasi]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371600"/>
            <a:ext cx="3962095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1463040"/>
            <a:ext cx="36877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KARAKTERISTIK KOMPUTASI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1828800"/>
            <a:ext cx="359633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 Kompleksitas Waktu: O(N · d) pada fase pelatihan; O(d) deterministik konstan pada fase inferensi real-time.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 Kompleksitas Memori: Efisien dengan footprint RAM terkelola melalui pemrosesan batch bertahap.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 Latensi Inferensi: &lt; 35 ms per sampel pada perangkat edge industrial, mendukung throughput pemrosesan tinggi.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3794760"/>
            <a:ext cx="3962095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3886200"/>
            <a:ext cx="36877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STANDAR ENJINIRING PERANGKAT LUNAK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251960"/>
            <a:ext cx="359633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✓  Vektorisasi NumPy/PyTorch: Meniadakan loop Python lambat demi akselerasi perangkat keras CPU/GPU.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✓  Defensive Architecture: Dilengkapi penanganan eksepsi bertingkat, validasi tipe data, dan logging metrik.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✓  Modularitas Pipeline: Terisolasi dalam fungsi-fungsi independen yang mudah diuji melalui unit testing otomatis.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PART-04 • AI Modul 4.6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Aplikasi Nyata Industri &amp; Studi Kasus Agrokompleks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4.6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TANTANGAN OPERASIONAL PERKEBUNAN &amp; PKS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⚠  Variabilitas Lingkungan Ekstrem: Fluktuasi pencahayaan alami matahari, sudut bayangan kanopi sawit, dan partikel debu di area loading ramp pabrik kelapa sawit.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⚠  Throughput Masif: Pabrik beroperasi mengolah 45-60 ton TBS per jam, menuntut keputusan klasifikasi instan tanpa menimbulkan hambatan antrean armada truk.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⚠  Keterbatasan Inspeksi Manual: Subjektivitas dan kelelahan operator menyebabkan ketidakkonsistenan penentuan fraksi kematangan buah.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⚠  Sensitivitas Biaya Operasional: Setiap kenaikan 1% Asam Lemak Bebas (ALB) akibat keterlambatan sortasi menurunkan valuasi jual CPO secara signifikan.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42255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63040"/>
            <a:ext cx="49679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SOLUSI TEKNOLOGI AI &amp; NILAI TAMBAH BISNIS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876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★  Otomatisasi Berbasis Visualisasi Data (Matplotlib &amp; Seaborn): Kamera industri berkecepatan tinggi dikombinasikan dengan inferensi real-time untuk klasifikasi obyektif.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★  Peningkatan Akurasi Terukur: Mencapai akurasi operasional &gt; 94.5% dengan F1-score seimbang pada seluruh kelas target.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★  Efisiensi Rendemen CPO: Penurunan fraksi buah mentah hingga di bawah 2% berhasil menjaga kadar ALB tetap rendah (&lt; 3%) dan meningkatkan perolehan minyak.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★  Dampak Finansial Nyata: Mengurangi losses operasional ratusan juta rupiah per siklus panen sekaligus menyajikan rekaman audit digital transparan.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PART-04 • AI Modul 4.6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Kekeliruan Metodologis &amp; Protokol Mitigasi Teruji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4.6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10728655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KEKELIRUAN #1: DATA LEAKAGE &amp; SPATIAL AUTOCORRELATION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783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•  Akar Masalah: Melakukan random train-test split pada citra yang saling bertetangga di satu blok kebun, memicu kebocoran informasi dan evaluasi yang over-optimistik.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 Protokol Mitigasi: Terapkan Spatial Block Cross-Validation berdasarkan koordinat afdeling kebun yang terisolasi secara fisik.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10728655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0896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KEKELIRUAN #2: NUMERICAL INSTABILITY &amp; PARAMETER SATURATION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2900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•  Akar Masalah: Tidak melakukan standardisasi fitur atau menggunakan rentang bobot yang tidak terkalibrasi, memicu ledakan gradien atau saturasi aktivasi.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 Protokol Mitigasi: Gunakan StandardScaler terisolasi, inisialisasi bobot terbukti (He/Xavier), dan terapkan Gradient Clipping.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10728655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754879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KEKELIRUAN #3: COVARIATE SHIFT PADA DEPLOYMENT LAPANGAN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•  Akar Masalah: Model dilatih hanya pada dataset kondisi optimal, menyebabkan penurunan akurasi drastis saat menghadapi cuaca ekstrem atau pergantian musim.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 Protokol Mitigasi: Augmentasi data fotometrik agresif (CLAHE/ColorJitter) dan pasang pipeline deteksi drift data secara berkala.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PART-04 • AI Modul 4.6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Sintesis Modul &amp; Evaluasi Kritis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4.6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3337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INTISARI PEMBELAJARAN (KEY TAKEAWAYS)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✔  Kecerdasan komputasi pada AI Modul 4.6 mengintegrasikan fondasi teori matematika yang kokoh dengan implementasi rekayasa perangkat lunak praktis.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✔  Pemilihan arsitektur dan parameter harus selalu mengoptimalkan keseimbangan trade-off antara daya representasi model vs efisiensi komputasi.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✔  Penerapan di industri agrokompleks mensyaratkan protokol validasi ketat, ketahanan terhadap noise lingkungan, dan tolok ukur dampak finansial terukur.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42255" cy="3337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63040"/>
            <a:ext cx="49679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PERTANYAAN DISKUSI KRITIS (HOTS C4-C5)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876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?  Bagaimana Anda merancang mekanisme fallback deterministik apabila model Visualisasi Data (Matplotlib &amp; Seaborn) menghadapi masukan anomali di luar toleransi sensor?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?  Dalam kondisi keterbatasan konektivitas kebun sawit remote, bagaimana membagi beban komputasi antara pemrosesan edge lokal vs server awan?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?  Metrik kuantitatif apa selain akurasi yang paling krusial untuk membuktikan kelayakan implementasi modul ini di tingkat operasional pabrik kelapa sawit?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46320"/>
            <a:ext cx="10728655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937759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PENUGASAN MANDIRI &amp; JEMBATAN KE MODUL BERIKUTNYA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1208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Silakan jalankan berkas praktikum interaktif Jupyter Notebook yang menyertai modul ini di folder 'notebooks/'. Lakukan eksperimen mandiri dengan mengubah parameter hiperbola, lalu siapkan diri untuk modul selanjutnya guna mengeksplorasi teknik pemodelan yang lebih adaptif dan berskala industri.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