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13.2: Sistem Deteksi Berbasis Video</a:t>
            </a:r>
          </a:p>
          <a:p>
            <a:pPr>
              <a:spcBef>
                <a:spcPts val="1200"/>
              </a:spcBef>
              <a:defRPr sz="1600">
                <a:solidFill>
                  <a:srgbClr val="94A3B8"/>
                </a:solidFill>
              </a:defRPr>
            </a:pPr>
            <a:r>
              <a:t>Bagian 13: Integrasi Sistem AI, Deployment Edge, dan Studi Kasus Terapan</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13.2</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arsitektur pelacakan objek jamak (Multi-Object Tracking / MOT) dengan paradigma Tracking-by-Detection.</a:t>
            </a:r>
          </a:p>
          <a:p>
            <a:pPr>
              <a:spcAft>
                <a:spcPts val="400"/>
              </a:spcAft>
              <a:defRPr sz="1100">
                <a:solidFill>
                  <a:srgbClr val="334155"/>
                </a:solidFill>
              </a:defRPr>
            </a:pPr>
            <a:r>
              <a:t>•  Menguasai formulasi matematis ruang keadaan Filter Kalman untuk estimasi posisi, skala, dan kecepatan linear bounding box.</a:t>
            </a:r>
          </a:p>
          <a:p>
            <a:pPr>
              <a:spcAft>
                <a:spcPts val="400"/>
              </a:spcAft>
              <a:defRPr sz="1100">
                <a:solidFill>
                  <a:srgbClr val="334155"/>
                </a:solidFill>
              </a:defRPr>
            </a:pPr>
            <a:r>
              <a:t>•  Menerapkan Algoritma Hungarian untuk menyelesaikan masalah penugasan bipartit berbobot (weighted bipartite matching) berbasis jarak IoU.</a:t>
            </a:r>
          </a:p>
          <a:p>
            <a:pPr>
              <a:spcAft>
                <a:spcPts val="400"/>
              </a:spcAft>
              <a:defRPr sz="1100">
                <a:solidFill>
                  <a:srgbClr val="334155"/>
                </a:solidFill>
              </a:defRPr>
            </a:pPr>
            <a:r>
              <a:t>•  Membangun logika kalkulasi lintas garis virtual (virtual tripwire line-crossing) menggunakan produk silang vektor (vector cross product).</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13.2</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Sistem Deteksi Berbasis Video.</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mathbfx_t = [u, v, s, r, dotu, dotv, dots]^T</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Sistem Deteksi Berbasis Video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13.2</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PIPELINE DETEKSI BERBASIS VIDEO DAN TRACKING </a:t>
            </a:r>
          </a:p>
        </p:txBody>
      </p:sp>
      <p:pic>
        <p:nvPicPr>
          <p:cNvPr id="12" name="Picture 11" descr="pipeline_deteksi_berbasis_video_dan_tracking_sort.png"/>
          <p:cNvPicPr>
            <a:picLocks noChangeAspect="1"/>
          </p:cNvPicPr>
          <p:nvPr/>
        </p:nvPicPr>
        <p:blipFill>
          <a:blip r:embed="rId2"/>
          <a:stretch>
            <a:fillRect/>
          </a:stretch>
        </p:blipFill>
        <p:spPr>
          <a:xfrm>
            <a:off x="914399" y="2577904"/>
            <a:ext cx="5669280" cy="261659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13.2</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Memahami arsitektur pelacakan objek jamak (Multi-Object Tracking / MOT) dengan paradigma Tracking-by-Detection.</a:t>
            </a:r>
            <a:br/>
            <a:r>
              <a:t>2. Menguasai formulasi matematis ruang keadaan Filter Kalman untuk estimasi posisi, skala, dan kecepatan linear bounding box.</a:t>
            </a:r>
            <a:br/>
            <a:r>
              <a:t>3. Menerapkan Algoritma Hungarian untuk menyelesaikan masalah penugasan bipartit berbobot (weighted bipartite matching) berbasis jarak IoU.</a:t>
            </a:r>
            <a:br/>
            <a:r>
              <a:t>4. Membangun logika kalkulasi lintas garis virtual (virtual tripwire line-crossing) menggunakan produk silang vektor (vector cross product).</a:t>
            </a:r>
            <a:br/>
            <a:br/>
            <a:r>
              <a:t>### 1.2 Kerangka Hasil Pembelajaran (Outputs, Outcomes, &amp; Impacts)</a:t>
            </a:r>
            <a:br/>
            <a:r>
              <a:t>* **Outputs (Keluaran Berwujud Langsung)**:</a:t>
            </a:r>
            <a:br/>
            <a:r>
              <a:t>  * Dokumen rancangan arsitektur pemrosesan visual dan spesifikasi parameter model Sistem Deteksi Berbasis Video.</a:t>
            </a:r>
            <a:br/>
            <a:r>
              <a:t>  * Berkas kode program Python modular tervalidasi menggunakan PyTorch/OpenCV yang siap diuji di lapangan.</a:t>
            </a:r>
            <a:br/>
            <a:r>
              <a:t>  * Grafik metrik evaluasi kinerja (akurasi, mAP, latensi inferensi, dan konsumsi memori aktivasi).</a:t>
            </a:r>
            <a:br/>
            <a:r>
              <a:t>* **Outcomes (Hasil Capaian &amp; Perubahan Kompetensi)**:</a:t>
            </a:r>
            <a:br/>
            <a:r>
              <a:t>  * Penguasaan mendalam terhadap formulasi matematika dan mekanisme konvolusi/deteksi objek visual.</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13.2</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Sistem Deteksi Berbasis Video: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13.2</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13.2</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13.2</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13.2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Sistem Deteksi Berbasis Video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