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2.2: Flowchart dan Pseudocode</a:t>
            </a:r>
          </a:p>
          <a:p>
            <a:pPr>
              <a:spcBef>
                <a:spcPts val="1200"/>
              </a:spcBef>
              <a:defRPr sz="1600">
                <a:solidFill>
                  <a:srgbClr val="94A3B8"/>
                </a:solidFill>
              </a:defRPr>
            </a:pPr>
            <a:r>
              <a:t>Bagian 2: Logika Komputasi dan Pemrograman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standar simbol grafis diagram alir ANSI/ISO dan konvensi penulisan pseudocode terstruktur.</a:t>
            </a:r>
          </a:p>
          <a:p>
            <a:pPr>
              <a:spcAft>
                <a:spcPts val="400"/>
              </a:spcAft>
              <a:defRPr sz="1100">
                <a:solidFill>
                  <a:srgbClr val="334155"/>
                </a:solidFill>
              </a:defRPr>
            </a:pPr>
            <a:r>
              <a:t>•  Menganalisis (C4) alur proses fisik sortasi TBS dan sistem interlock keselamatan pabrik kelapa sawit ke dalam representasi logika grafis.</a:t>
            </a:r>
          </a:p>
          <a:p>
            <a:pPr>
              <a:spcAft>
                <a:spcPts val="400"/>
              </a:spcAft>
              <a:defRPr sz="1100">
                <a:solidFill>
                  <a:srgbClr val="334155"/>
                </a:solidFill>
              </a:defRPr>
            </a:pPr>
            <a:r>
              <a:t>•  Merancang (C3) diagram alir (flowchart) dan teks pseudocode sistem kendali otomasi agro-industri yang bebas ambiguitas.</a:t>
            </a:r>
          </a:p>
          <a:p>
            <a:pPr>
              <a:spcAft>
                <a:spcPts val="400"/>
              </a:spcAft>
              <a:defRPr sz="1100">
                <a:solidFill>
                  <a:srgbClr val="334155"/>
                </a:solidFill>
              </a:defRPr>
            </a:pPr>
            <a:r>
              <a:t>•  Mentransformasikan (C3) rancangan diagram alir dan pseudocode menjadi kode program Python yang siap dieksekusi.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Flowchart dan Pseudocode.</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theta_high = 0.85,    theta_low = 0.50</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Flowchart dan Pseudocode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IKHTISAR STANDAR SIMBOL FLOWCHART ANSI/ISO 58</a:t>
            </a:r>
          </a:p>
        </p:txBody>
      </p:sp>
      <p:pic>
        <p:nvPicPr>
          <p:cNvPr id="12" name="Picture 11" descr="simbol_standar_flowchart.png"/>
          <p:cNvPicPr>
            <a:picLocks noChangeAspect="1"/>
          </p:cNvPicPr>
          <p:nvPr/>
        </p:nvPicPr>
        <p:blipFill>
          <a:blip r:embed="rId2"/>
          <a:stretch>
            <a:fillRect/>
          </a:stretch>
        </p:blipFill>
        <p:spPr>
          <a:xfrm>
            <a:off x="914399" y="2232660"/>
            <a:ext cx="5669280" cy="330708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**Mengidentifikasi (C2)** standar simbol grafis diagram alir ANSI/ISO dan konvensi penulisan *pseudocode* terstruktur.</a:t>
            </a:r>
            <a:br/>
            <a:r>
              <a:t>2. **Menganalisis (C4)** alur proses fisik sortasi TBS dan sistem interlock keselamatan pabrik kelapa sawit ke dalam representasi logika grafis.</a:t>
            </a:r>
            <a:br/>
            <a:r>
              <a:t>3. **Merancang (C3)** diagram alir (*flowchart*) dan teks *pseudocode* sistem kendali otomasi agro-industri yang bebas ambiguitas.</a:t>
            </a:r>
            <a:br/>
            <a:r>
              <a:t>4. **Mentransformasikan (C3)** rancangan diagram alir dan pseudocode menjadi kode program Python yang siap dieksekusi.</a:t>
            </a:r>
            <a:br/>
            <a:br/>
            <a:r>
              <a:t>### 1.2 Kerangka Hasil Pembelajaran (Outputs, Outcomes, &amp; Impacts)</a:t>
            </a:r>
            <a:br/>
            <a:r>
              <a:t>* **Outputs (Keluaran Berwujud Langsung)**:</a:t>
            </a:r>
            <a:br/>
            <a:r>
              <a:t>  * **Dokumen Spesifikasi Diagram Alir ANSI/ISO 5807**: Penguasaan perancangan alur pemrosesan cerdas berstandar internasional yang mencakup penggunaan presisi 8 simbol utama (*Terminator*, *Process*, *Decision*, *Input/Output*, *Preparation*, *Connector On-Page*, *Predefined Process*, dan *Off-Page Connector*).</a:t>
            </a:r>
            <a:br/>
            <a:r>
              <a:t>  * **Dokumen Pseudocode Formal Terstruktur**: Spesifikasi tekstual independen bahasa menggunakan konvensi akademik baku (kata kunci kapital `START`, `INPUT`, `COMPUTE`, `IF-THEN-ELSE`, `WHILE-DO`, `END`), indentasi hierarkis 4 spasi, deklarasi tipe data terstruktur, dan penamaan variabel deskriptif.</a:t>
            </a:r>
            <a:br/>
            <a:r>
              <a:t>  * **Matriks Tabel Jejak (*Dry-Run Trace Table Engine*)**: Lembar audit pengujian kering langkah-demi-langkah yang memetakan mutasi status variabel, evaluasi predikat kondisional (*Boolean branch*), serta pembuktian mekanisme *short-circuit evaluation* pada data uji heterogen.</a:t>
            </a:r>
            <a:br/>
            <a:r>
              <a:t>* **Outcomes (Hasil Capaian &amp; Perubahan Kompetensi)**:</a:t>
            </a:r>
            <a:br/>
            <a:r>
              <a:t>  * **Kompetensi Perancangan Cetak Biru Logika (*Algorithmic Blueprinting*)**: Mahasiswa mampu memvisualisasikan masalah agronomis kompleks (seperti sortasi tandan buah segar dan penanganan sensor anomali) ke dalam skema diagramatik yang rapi dan terverifikasi sebelum menulis satu baris pun kode sintaks bahasa pemrograman.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Flowchart dan Pseudocode: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2.2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Flowchart dan Pseudocode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