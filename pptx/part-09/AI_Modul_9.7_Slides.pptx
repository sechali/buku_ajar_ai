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9.7: Training Neural Network</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prinsip kerja dan keterbatasan mendasar algoritma Batch Gradient Descent, Stochastic Gradient Descent (SGD), dan Mini-Batch GD dalam mengarungi lanskap fungsi rugi non-konveks berdimensi tinggi.</a:t>
            </a:r>
          </a:p>
          <a:p>
            <a:pPr>
              <a:spcAft>
                <a:spcPts val="400"/>
              </a:spcAft>
              <a:defRPr sz="1100">
                <a:solidFill>
                  <a:srgbClr val="334155"/>
                </a:solidFill>
              </a:defRPr>
            </a:pPr>
            <a:r>
              <a:t>•  Menerapkan (C3) formulasi matematika algoritma Momentum, RMSprop, dan Adam (Adaptive Moment Estimation) lengkap dengan perhitungan koreksi bias analitik untuk mempercepat konvergensi model AI perkebunan presisi.</a:t>
            </a:r>
          </a:p>
          <a:p>
            <a:pPr>
              <a:spcAft>
                <a:spcPts val="400"/>
              </a:spcAft>
              <a:defRPr sz="1100">
                <a:solidFill>
                  <a:srgbClr val="334155"/>
                </a:solidFill>
              </a:defRPr>
            </a:pPr>
            <a:r>
              <a:t>•  Menganalisis (C4) perbandingan trajektori optimasi pada permukaan jurang sempit (ravine landscapes), mengevaluasi dinamika peluruhan laju pembelajaran (Learning Rate Schedules seperti Cosine Annealing), serta mendiagnosis anomali divergensi pelatihan akibat hiperparameter yang tidak terkalibrasi.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Training Neural Network.</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boldsymboltheta_t+1 = boldsymboltheta_t - Delta boldsymboltheta_t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Training Neural Network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TRAJEKTORI OPTIMASI LANSKAP LOSS SGD MOMENTUM</a:t>
            </a:r>
          </a:p>
        </p:txBody>
      </p:sp>
      <p:pic>
        <p:nvPicPr>
          <p:cNvPr id="12" name="Picture 11" descr="trajektori_optimasi_lanskap_loss_sgd_momentum_rmsprop_adam.png"/>
          <p:cNvPicPr>
            <a:picLocks noChangeAspect="1"/>
          </p:cNvPicPr>
          <p:nvPr/>
        </p:nvPicPr>
        <p:blipFill>
          <a:blip r:embed="rId2"/>
          <a:stretch>
            <a:fillRect/>
          </a:stretch>
        </p:blipFill>
        <p:spPr>
          <a:xfrm>
            <a:off x="914399" y="1910541"/>
            <a:ext cx="5669280" cy="3951316"/>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menuntaskan modul ini, mahasiswa dan pembelajar diharapkan mampu:</a:t>
            </a:r>
            <a:br/>
            <a:r>
              <a:t>1. **Menguraikan (C2)** prinsip kerja dan keterbatasan mendasar algoritma *Batch Gradient Descent*, *Stochastic Gradient Descent* (SGD), dan *Mini-Batch GD* dalam mengarungi lanskap fungsi rugi non-konveks berdimensi tinggi.</a:t>
            </a:r>
            <a:br/>
            <a:r>
              <a:t>2. **Menerapkan (C3)** formulasi matematika algoritma *Momentum*, *RMSprop*, dan *Adam* (*Adaptive Moment Estimation*) lengkap dengan perhitungan koreksi bias analitik untuk mempercepat konvergensi model AI perkebunan presisi.</a:t>
            </a:r>
            <a:br/>
            <a:r>
              <a:t>3. **Menganalisis (C4)** perbandingan trajektori optimasi pada permukaan jurang sempit (*ravine landscapes*), mengevaluasi dinamika peluruhan laju pembelajaran (*Learning Rate Schedules* seperti *Cosine Annealing*), serta mendiagnosis anomali divergensi pelatihan akibat hiperparameter yang tidak terkalibrasi.</a:t>
            </a:r>
            <a:br/>
            <a:br/>
            <a:r>
              <a:t>### 1.2 Kerangka Hasil Pembelajaran (Outputs, Outcomes, &amp; Impacts)</a:t>
            </a:r>
            <a:br/>
            <a:r>
              <a:t>* **Outputs (Keluaran Berwujud Langsung)**:</a:t>
            </a:r>
            <a:br/>
            <a:r>
              <a:t>  * Berkas kode program Python mandiri yang mengimplementasikan empat kelas optimizer (`SGD`, `Momentum`, `RMSprop`, `Adam`) murni dari nol dengan NumPy.</a:t>
            </a:r>
            <a:br/>
            <a:r>
              <a:t>  * Grafik visualisasi perbandingan lintasan optimasi 2D pada permukaan fungsi uji non-konveks yang memperlihatkan eliminasi osilasi zig-zag.</a:t>
            </a:r>
            <a:br/>
            <a:r>
              <a:t>  * Laporan perbandingan laju penurunan kerugian dan efisiensi waktu pelatihan pada model peramalan defisit air tanah multi-blok.</a:t>
            </a:r>
            <a:br/>
            <a:r>
              <a:t>* **Outcomes (Hasil Capaian &amp; Perubahan Kompetensi)**:</a:t>
            </a:r>
            <a:br/>
            <a:r>
              <a:t>  * Mahasiswa terampil memilih optimizer yang paling tepat berdasarkan ukuran dataset, arsitektur jaringan, dan karakteristik derau data pertanian.</a:t>
            </a:r>
            <a:br/>
            <a:r>
              <a:t>  * Mahasiswa memahami secara mendalam peran momen pertama (kecepatan gerak) dan momen kedua (redaman varians adaptif) pada algoritma Adam.</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Training Neural Network: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Training Neural Network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