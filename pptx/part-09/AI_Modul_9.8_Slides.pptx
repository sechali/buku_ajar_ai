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9.8: Hyperparameter Tuning</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9.8</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Sub-CPMK 9.8.1 (C2): Menguraikan dasar teoretis disparitas antara galat empiris (training loss) dan galat generalisasi (validation loss), serta membedah landasan matematis mekanisme penalti bobot (L_1 dan L_2 Weight Decay), Inverted Dropout, Batch Normalization, dan Early Stopping.</a:t>
            </a:r>
          </a:p>
          <a:p>
            <a:pPr>
              <a:spcAft>
                <a:spcPts val="400"/>
              </a:spcAft>
              <a:defRPr sz="1100">
                <a:solidFill>
                  <a:srgbClr val="334155"/>
                </a:solidFill>
              </a:defRPr>
            </a:pPr>
            <a:r>
              <a:t>•  Sub-CPMK 9.8.2 (C3): Mengimplementasikan algoritma Inverted Dropout dan normalisasi lapisan mini-batch (Batch Normalization) lengkap dengan penyesuaian parameter skala (\gamma) dan geser (\beta) serta mekanisme pelacakan statistik berjalan (running statistics) untuk mode inferensi pada arsitektur jaringan saraf tiruan.</a:t>
            </a:r>
          </a:p>
          <a:p>
            <a:pPr>
              <a:spcAft>
                <a:spcPts val="400"/>
              </a:spcAft>
              <a:defRPr sz="1100">
                <a:solidFill>
                  <a:srgbClr val="334155"/>
                </a:solidFill>
              </a:defRPr>
            </a:pPr>
            <a:r>
              <a:t>•  Sub-CPMK 9.8.3 (C4): Mendiagnosis fenomena overfitting, pergeseran kovariat internal (internal covariate shift), dan dinamika divergensi gradien pada data tabular multivariat spektral agrokompleks, lalu merumuskan konfigurasi regularisasi komposit yang optimal guna menjamin reliabilitas prediksi model di lapangan perkebunan.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9.8</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Hyperparameter Tuning.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|mathbfW^[l]|_F^2 = sum_i=1^n^[l] sum_j=1^n^[l-1] (W_i,j^[l])^2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Hyperparameter Tuning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9.8</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INVERTED DROPOUT DAN BATCH NORMALI</a:t>
            </a:r>
          </a:p>
        </p:txBody>
      </p:sp>
      <p:pic>
        <p:nvPicPr>
          <p:cNvPr id="12" name="Picture 11" descr="arsitektur_dropout_dan_batch_normalization_deep_learning.png"/>
          <p:cNvPicPr>
            <a:picLocks noChangeAspect="1"/>
          </p:cNvPicPr>
          <p:nvPr/>
        </p:nvPicPr>
        <p:blipFill>
          <a:blip r:embed="rId2"/>
          <a:stretch>
            <a:fillRect/>
          </a:stretch>
        </p:blipFill>
        <p:spPr>
          <a:xfrm>
            <a:off x="914399" y="2683007"/>
            <a:ext cx="5669280" cy="2406385"/>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9.8</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pembelajaran ini secara tuntas, mahasiswa diharapkan memiliki kapabilitas untuk:</a:t>
            </a:r>
            <a:br/>
            <a:r>
              <a:t>1. **Sub-CPMK 9.8.1 (C2):** Menguraikan dasar teoretis disparitas antara galat empiris (*training loss*) dan galat generalisasi (*validation loss*), serta membedah landasan matematis mekanisme penalti bobot ($L_1$ dan $L_2$ *Weight Decay*), *Inverted Dropout*, *Batch Normalization*, dan *Early Stopping*.</a:t>
            </a:r>
            <a:br/>
            <a:r>
              <a:t>2. **Sub-CPMK 9.8.2 (C3):** Mengimplementasikan algoritma *Inverted Dropout* dan normalisasi lapisan mini-batch (*Batch Normalization*) lengkap dengan penyesuaian parameter skala ($\gamma$) dan geser ($\beta$) serta mekanisme pelacakan statistik berjalan (*running statistics*) untuk mode inferensi pada arsitektur jaringan saraf tiruan.</a:t>
            </a:r>
            <a:br/>
            <a:r>
              <a:t>3. **Sub-CPMK 9.8.3 (C4):** Mendiagnosis fenomena *overfitting*, pergeseran kovariat internal (*internal covariate shift*), dan dinamika divergensi gradien pada data tabular multivariat spektral agrokompleks, lalu merumuskan konfigurasi regularisasi komposit yang optimal guna menjamin reliabilitas prediksi model di lapangan perkebunan.</a:t>
            </a:r>
            <a:br/>
            <a:br/>
            <a:r>
              <a:t>### 1.2 Kerangka Hasil Pembelajaran (Outputs, Outcomes, &amp; Impacts)</a:t>
            </a:r>
            <a:br/>
            <a:r>
              <a:t>- **Luaran Langsung (*Outputs*):** Skrip program Python dan pustaka komputasi numerik murni NumPy serta implementasi PyTorch yang memuat modul regulerisasi (*Weight Decay, Dropout, BatchNorm2d/1d, EarlyStopping*) yang terverifikasi tanpa galat.</a:t>
            </a:r>
            <a:br/>
            <a:r>
              <a:t>- **Dampak Pembelajaran (*Outcomes*):** Mahasiswa memiliki insting rekayasa pembelajaran mesin dalam membedah kapan sebuah model memerlukan penalti pembobotan atau modulasi statistik representasi fitur untuk mencegah fenomena hafalan sampel (*data memorization*).</a:t>
            </a:r>
            <a:br/>
            <a:r>
              <a:t>- **Implikasi Jangka Panjang (*Impacts*):** Terciptanya model kecerdasan buatan berbasis *deep learning* sektor perkebunan dan kehutanan yang tangguh (*robust*), mampu bekerja stabil pada variasi lingkungan musiman baru, serta memiliki daya generalisasi tinggi saat diterapkan pada armada sensor IoT cerdas.</a:t>
            </a:r>
            <a:br/>
            <a:br/>
            <a:r>
              <a:t>---</a:t>
            </a:r>
            <a:br/>
            <a:br/>
            <a:r>
              <a:t>## 2. Profil Fundamental Regularisasi dan Generalisasi: Fungsi, Manfaat, dan Keunggulan-Kelemahan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9.8</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Hyperparameter Tuning: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9.8</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9.8</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9.8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Hyperparameter Tuning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