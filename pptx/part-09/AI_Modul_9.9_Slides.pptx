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9.9: Framework Deep Learning (TensorFlow &amp; PyTorch)</a:t>
            </a:r>
          </a:p>
          <a:p>
            <a:pPr>
              <a:spcBef>
                <a:spcPts val="1200"/>
              </a:spcBef>
              <a:defRPr sz="1600">
                <a:solidFill>
                  <a:srgbClr val="94A3B8"/>
                </a:solidFill>
              </a:defRPr>
            </a:pPr>
            <a:r>
              <a:t>Bagian 9: Fondasi Deep Learning dan Arsitektur Jaringan Saraf Tiruan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9.9</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kerja arsitektur framework deep learning modern, perbedaan mendasar antara graf komputasi dinamis (dynamic define-by-run) pada PyTorch dan graf komputasi statis/simbolik (static define-and-run) pada TensorFlow, serta peran engine diferensiasi otomatis (automatic differentiation engine).</a:t>
            </a:r>
          </a:p>
          <a:p>
            <a:pPr>
              <a:spcAft>
                <a:spcPts val="400"/>
              </a:spcAft>
              <a:defRPr sz="1100">
                <a:solidFill>
                  <a:srgbClr val="334155"/>
                </a:solidFill>
              </a:defRPr>
            </a:pPr>
            <a:r>
              <a:t>•  Menerapkan (C3) pustaka PyTorch untuk merancang arsitektur Multi-Layer Perceptron berorientasi objek (`torch.nn.Module`), mengonfigurasi pipeline pemuatan data efisien (`torch.utils.data.Dataset` dan `DataLoader`), serta mengeksekusi siklus pelatihan kustom (custom training loop).</a:t>
            </a:r>
          </a:p>
          <a:p>
            <a:pPr>
              <a:spcAft>
                <a:spcPts val="400"/>
              </a:spcAft>
              <a:defRPr sz="1100">
                <a:solidFill>
                  <a:srgbClr val="334155"/>
                </a:solidFill>
              </a:defRPr>
            </a:pPr>
            <a:r>
              <a:t>•  Menganalisis (C4) profil performa eksekusi model (penggunaan memori VRAM GPU, throughput batch per detik, latensi inferensi) serta prosedur ekspor model ke format produksi standar (ONNX dan TorchScript) untuk penerapan terpasang (edge deployment).</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9.9</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Framework Deep Learning (TensorFlow &amp; PyTorch).</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fracpartial Lpartial w_i = sum_	extsemua jalur  p prod_(u, v) in p fracpartial v</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Framework Deep Learning (TensorFlow &amp; PyTorch)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9.9</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KOMPARASI ARSITEKTUR FRAMEWORK PYTORCH VS TEN</a:t>
            </a:r>
          </a:p>
        </p:txBody>
      </p:sp>
      <p:pic>
        <p:nvPicPr>
          <p:cNvPr id="12" name="Picture 11" descr="komparasi_arsitektur_framework_pytorch_vs_tensorflow.png"/>
          <p:cNvPicPr>
            <a:picLocks noChangeAspect="1"/>
          </p:cNvPicPr>
          <p:nvPr/>
        </p:nvPicPr>
        <p:blipFill>
          <a:blip r:embed="rId2"/>
          <a:stretch>
            <a:fillRect/>
          </a:stretch>
        </p:blipFill>
        <p:spPr>
          <a:xfrm>
            <a:off x="914399" y="2570117"/>
            <a:ext cx="5669280" cy="2632165"/>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9.9</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kerja arsitektur framework deep learning modern, perbedaan mendasar antara graf komputasi dinamis (*dynamic define-by-run*) pada PyTorch dan graf komputasi statis/simbolik (*static define-and-run*) pada TensorFlow, serta peran engine diferensiasi otomatis (*automatic differentiation engine*).</a:t>
            </a:r>
            <a:br/>
            <a:r>
              <a:t>2. **Menerapkan (C3)** pustaka PyTorch untuk merancang arsitektur Multi-Layer Perceptron berorientasi objek (`torch.nn.Module`), mengonfigurasi pipeline pemuatan data efisien (`torch.utils.data.Dataset` dan `DataLoader`), serta mengeksekusi siklus pelatihan kustom (*custom training loop*).</a:t>
            </a:r>
            <a:br/>
            <a:r>
              <a:t>3. **Menganalisis (C4)** profil performa eksekusi model (penggunaan memori VRAM GPU, throughput batch per detik, latensi inferensi) serta prosedur ekspor model ke format produksi standar (ONNX dan TorchScript) untuk penerapan terpasang (*edge deployment*).</a:t>
            </a:r>
            <a:br/>
            <a:br/>
            <a:r>
              <a:t>### 1.2 Kerangka Hasil Pembelajaran (Outputs, Outcomes, &amp; Impacts)</a:t>
            </a:r>
            <a:br/>
            <a:r>
              <a:t>* **Outputs (Keluaran Langsung)**:</a:t>
            </a:r>
            <a:br/>
            <a:r>
              <a:t>  * Pemahaman mendalam mengenai ekosistem software deep learning: PyTorch, TorchVision, TensorFlow, Keras, dan ONNX Runtime.</a:t>
            </a:r>
            <a:br/>
            <a:r>
              <a:t>  * Skrip Python modular berstandar PEP 8 untuk pipeline end-to-end data loading, training loop, evaluasi metrik, dan penyimpanan checkpoint menggunakan PyTorch.</a:t>
            </a:r>
            <a:br/>
            <a:r>
              <a:t>  * Laporan perbandingan latensi inferensi model pada CPU dan GPU.</a:t>
            </a:r>
            <a:br/>
            <a:r>
              <a:t>* **Outcomes (Kompetensi Aplikatif)**:</a:t>
            </a:r>
            <a:br/>
            <a:r>
              <a:t>  * Keahlian membangun arsitektur deep learning mutakhir tanpa perlu menuliskan derivasi kalkulus manual dari dasar.</a:t>
            </a:r>
            <a:br/>
            <a:r>
              <a:t>  * Kemampuan mengoptimalkan throughput pipeline data untuk mencegah bottleneck I/O saat melatih model pada ribuan citra sensor perkebunan.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9.9</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Framework Deep Learning (TensorFlow &amp; PyTorch):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9.9</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9.9</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9.9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Framework Deep Learning (TensorFlow &amp; PyTorch)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