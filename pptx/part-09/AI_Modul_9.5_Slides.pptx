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9.5: Loss Function</a:t>
            </a:r>
          </a:p>
          <a:p>
            <a:pPr>
              <a:spcBef>
                <a:spcPts val="1200"/>
              </a:spcBef>
              <a:defRPr sz="1600">
                <a:solidFill>
                  <a:srgbClr val="94A3B8"/>
                </a:solidFill>
              </a:defRPr>
            </a:pPr>
            <a:r>
              <a:t>Bagian 9: Fondasi Deep Learning dan Arsitektur Jaringan Saraf Tiruan</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9.5</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Menguraikan (C2) mekanisme perambatan maju (Forward Propagation) berbasis graf komputasi terarah (Computational Graph DAG) dan merumuskan operasi perkalian matriks batch pada setiap lapisan jaringan saraf.</a:t>
            </a:r>
          </a:p>
          <a:p>
            <a:pPr>
              <a:spcAft>
                <a:spcPts val="400"/>
              </a:spcAft>
              <a:defRPr sz="1100">
                <a:solidFill>
                  <a:srgbClr val="334155"/>
                </a:solidFill>
              </a:defRPr>
            </a:pPr>
            <a:r>
              <a:t>•  Menerapkan (C3) fungsi rugi Mean Squared Error (MSE), Binary Cross-Entropy (BCE), dan Categorical Cross-Entropy (CCE) pada data sensorik perkebunan presisi dengan menerapkan stabilisasi numerik (epsilon clipping dan metode numerik Log-Sum-Exp).</a:t>
            </a:r>
          </a:p>
          <a:p>
            <a:pPr>
              <a:spcAft>
                <a:spcPts val="400"/>
              </a:spcAft>
              <a:defRPr sz="1100">
                <a:solidFill>
                  <a:srgbClr val="334155"/>
                </a:solidFill>
              </a:defRPr>
            </a:pPr>
            <a:r>
              <a:t>•  Menganalisis (C4) landasan probabilitas Maximum Likelihood Estimation (MLE) dan divergensi Kullback-Leibler (KL) di balik fungsi Cross-Entropy, serta membuktikan secara analitik kelemahan fatal penggunaan MSE pada luaran Sigmoid/Softmax.</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9.5</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Loss Function.</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mathbfZ^(l) = mathbfA^(l-1) mathbfW^(l) + mathbf1_B mathbfb^(l)T</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Loss Function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9.5</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ANATOMI LOSS FUNCTIONS DAN LEARNING RATE</a:t>
            </a:r>
          </a:p>
        </p:txBody>
      </p:sp>
      <p:pic>
        <p:nvPicPr>
          <p:cNvPr id="12" name="Picture 11" descr="anatomi_loss_functions_dan_learning_rate.png"/>
          <p:cNvPicPr>
            <a:picLocks noChangeAspect="1"/>
          </p:cNvPicPr>
          <p:nvPr/>
        </p:nvPicPr>
        <p:blipFill>
          <a:blip r:embed="rId2"/>
          <a:stretch>
            <a:fillRect/>
          </a:stretch>
        </p:blipFill>
        <p:spPr>
          <a:xfrm>
            <a:off x="914399" y="2799783"/>
            <a:ext cx="5669280" cy="2172833"/>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9.5</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Pipeline Standar Industri Python</a:t>
            </a:r>
            <a:br/>
            <a:r>
              <a:t>import numpy as np</a:t>
            </a:r>
            <a:br/>
            <a:br/>
            <a:r>
              <a:t>def execute_pipeline(data):</a:t>
            </a:r>
            <a:br/>
            <a:r>
              <a:t>    # Pemrosesan terstandardisasi</a:t>
            </a:r>
            <a:br/>
            <a:r>
              <a:t>    return np.asarray(data)</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9.5</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Loss Function: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9.5</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PART-09 • AI Modul 9.5</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9.5</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9.5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Loss Function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