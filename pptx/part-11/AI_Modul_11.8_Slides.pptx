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11.8: Motion Detection</a:t>
            </a:r>
          </a:p>
          <a:p>
            <a:pPr>
              <a:spcBef>
                <a:spcPts val="1200"/>
              </a:spcBef>
              <a:defRPr sz="1600">
                <a:solidFill>
                  <a:srgbClr val="94A3B8"/>
                </a:solidFill>
              </a:defRPr>
            </a:pPr>
            <a:r>
              <a:t>Bagian 11: Pengolahan Citra Digital dan Computer Vision Tingkat Dasar</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PART-11 • AI Modul 11.8</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11.8</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Memahami (C2) prinsip matematis deteksi gerak visual, metode diferensiasi bingkai absolut (absolute frame differencing), pemodelan latar belakang statistik adaptif campuran Gaussian (Gaussian Mixture-based Background Subtraction / MOG2), serta persamaan batasan kecerahan optik (optical flow brightness constancy equation).</a:t>
            </a:r>
          </a:p>
          <a:p>
            <a:pPr>
              <a:spcAft>
                <a:spcPts val="400"/>
              </a:spcAft>
              <a:defRPr sz="1100">
                <a:solidFill>
                  <a:srgbClr val="334155"/>
                </a:solidFill>
              </a:defRPr>
            </a:pPr>
            <a:r>
              <a:t>•  Menerapkan (C3) fungsi `cv2.absdiff()`, `cv2.createBackgroundSubtractorMOG2()`, dan algoritma sparse optical flow Lucas-Kanade (`cv2.calcOpticalFlowPyrLK()`) untuk mendeteksi pergerakan objek pada aliran video perkebunan kelapa sawit.</a:t>
            </a:r>
          </a:p>
          <a:p>
            <a:pPr>
              <a:spcAft>
                <a:spcPts val="400"/>
              </a:spcAft>
              <a:defRPr sz="1100">
                <a:solidFill>
                  <a:srgbClr val="334155"/>
                </a:solidFill>
              </a:defRPr>
            </a:pPr>
            <a:r>
              <a:t>•  Menganalisis (C4) perbedaan performa deteksi gerak terhadap gangguan derau alami lingkungan terbuka: goyangan dedaunan tertiup angin, perubahan bayangan awan dinamis, dan objek bergerak yang berhenti mendadak.</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PART-11 • AI Modul 11.8</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11.8</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Motion Detection.</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D(t, y, x) = |I_t(y, x) - I_t-1(y, x)|</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Motion Detection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PART-11 • AI Modul 11.8</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11.8</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MEKANISME FRAME DIFFERENCING DAN OPTICAL FLOW</a:t>
            </a:r>
          </a:p>
        </p:txBody>
      </p:sp>
      <p:pic>
        <p:nvPicPr>
          <p:cNvPr id="12" name="Picture 11" descr="mekanisme_frame_differencing_dan_optical_flow_motion_detection.png"/>
          <p:cNvPicPr>
            <a:picLocks noChangeAspect="1"/>
          </p:cNvPicPr>
          <p:nvPr/>
        </p:nvPicPr>
        <p:blipFill>
          <a:blip r:embed="rId2"/>
          <a:stretch>
            <a:fillRect/>
          </a:stretch>
        </p:blipFill>
        <p:spPr>
          <a:xfrm>
            <a:off x="914399" y="2904978"/>
            <a:ext cx="5669280" cy="1962443"/>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PART-11 • AI Modul 11.8</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11.8</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 1.1 Capaian Pembelajaran Khusus (Sub-CPMK)</a:t>
            </a:r>
            <a:br/>
            <a:r>
              <a:t>Setelah menyelesaikan modul ini secara komprehensif, mahasiswa diharapkan mampu:</a:t>
            </a:r>
            <a:br/>
            <a:r>
              <a:t>1. **Memahami (C2)** prinsip matematis deteksi gerak visual, metode diferensiasi bingkai absolut (*absolute frame differencing*), pemodelan latar belakang statistik adaptif campuran Gaussian (*Gaussian Mixture-based Background Subtraction / MOG2*), serta persamaan batasan kecerahan optik (*optical flow brightness constancy equation*).</a:t>
            </a:r>
            <a:br/>
            <a:r>
              <a:t>2. **Menerapkan (C3)** fungsi `cv2.absdiff()`, `cv2.createBackgroundSubtractorMOG2()`, dan algoritma sparse optical flow Lucas-Kanade (`cv2.calcOpticalFlowPyrLK()`) untuk mendeteksi pergerakan objek pada aliran video perkebunan kelapa sawit.</a:t>
            </a:r>
            <a:br/>
            <a:r>
              <a:t>3. **Menganalisis (C4)** perbedaan performa deteksi gerak terhadap gangguan derau alami lingkungan terbuka: goyangan dedaunan tertiup angin, perubahan bayangan awan dinamis, dan objek bergerak yang berhenti mendadak.</a:t>
            </a:r>
            <a:br/>
            <a:br/>
            <a:r>
              <a:t>### 1.2 Kerangka Hasil Pembelajaran (Outputs, Outcomes, &amp; Impacts)</a:t>
            </a:r>
            <a:br/>
            <a:r>
              <a:t>* **Outputs (Keluaran Langsung)**:</a:t>
            </a:r>
            <a:br/>
            <a:r>
              <a:t>  * Formulasi matematis model probabilitas campuran Gaussian dan fungsi selisih temporal.</a:t>
            </a:r>
            <a:br/>
            <a:r>
              <a:t>  * Skrip Python modular berstandar PEP 8 untuk segmentasi latar depan (*foreground mask*) dan pelacakan lintasan pergerakan objek.</a:t>
            </a:r>
            <a:br/>
            <a:r>
              <a:t>  * Plot visual perbandingan masker gerak antara Frame Differencing dan MOG2.</a:t>
            </a:r>
            <a:br/>
            <a:r>
              <a:t>* **Outcomes (Kompetensi Aplikatif)**:</a:t>
            </a:r>
            <a:br/>
            <a:r>
              <a:t>  * Keahlian merancang sistem pengawasan CCTV pintar untuk mendeteksi intrusi satwa liar atau pencurian hasil panen di perimeter perkebunan.</a:t>
            </a:r>
            <a:br/>
            <a:r>
              <a:t>  * Kemampuan mengukur kecepatan pergerakan komoditas di atas konveyor secara nirkontak.</a:t>
            </a:r>
            <a:br/>
            <a:r>
              <a:t># ... [lanjutan pipeline teroptimasi]</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PART-11 • AI Modul 11.8</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11.8</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Motion Detection: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PART-11 • AI Modul 11.8</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Kekeliruan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11.8</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KEKELIRUAN #1: DATA LEAKAGE &amp; SPATIAL AUTOCORRELATION</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Akar Masalah: Melakukan random train-test split pada citra yang saling bertetangga di satu blok kebun, memicu kebocoran informasi dan evaluasi yang over-optimistik.</a:t>
            </a:r>
          </a:p>
          <a:p>
            <a:pPr>
              <a:spcBef>
                <a:spcPts val="300"/>
              </a:spcBef>
              <a:defRPr sz="950" b="1">
                <a:solidFill>
                  <a:srgbClr val="0F172A"/>
                </a:solidFill>
              </a:defRPr>
            </a:pPr>
            <a:r>
              <a:t>•  Protokol Mitigasi: Terapkan Spatial Block Cross-Validation berdasarkan koordinat afdeling kebun yang terisolasi secara fisik.</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KEKELIRUAN #2: NUMERICAL INSTABILITY &amp; PARAMETER SATURATION</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Akar Masalah: Tidak melakukan standardisasi fitur atau menggunakan rentang bobot yang tidak terkalibrasi, memicu ledakan gradien atau saturasi aktivasi.</a:t>
            </a:r>
          </a:p>
          <a:p>
            <a:pPr>
              <a:spcBef>
                <a:spcPts val="300"/>
              </a:spcBef>
              <a:defRPr sz="950" b="1">
                <a:solidFill>
                  <a:srgbClr val="0F172A"/>
                </a:solidFill>
              </a:defRPr>
            </a:pPr>
            <a:r>
              <a:t>•  Protokol Mitigasi: Gunakan StandardScaler terisolasi, inisialisasi bobot terbukti (He/Xavier), dan terapkan Gradient Clipping.</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KEKELIRUAN #3: COVARIATE SHIFT PADA DEPLOYMENT LAPANGAN</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Akar Masalah: Model dilatih hanya pada dataset kondisi optimal, menyebabkan penurunan akurasi drastis saat menghadapi cuaca ekstrem atau pergantian musim.</a:t>
            </a:r>
          </a:p>
          <a:p>
            <a:pPr>
              <a:spcBef>
                <a:spcPts val="300"/>
              </a:spcBef>
              <a:defRPr sz="950" b="1">
                <a:solidFill>
                  <a:srgbClr val="0F172A"/>
                </a:solidFill>
              </a:defRPr>
            </a:pPr>
            <a:r>
              <a:t>•  Protokol Mitigasi: Augmentasi data fotometrik agresif (CLAHE/ColorJitter) dan pasang pipeline deteksi drift data secara berkala.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PART-11 • AI Modul 11.8</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11.8</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11.8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Motion Detection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