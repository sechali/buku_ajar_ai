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11.6: Face Detection</a:t>
            </a:r>
          </a:p>
          <a:p>
            <a:pPr>
              <a:spcBef>
                <a:spcPts val="1200"/>
              </a:spcBef>
              <a:defRPr sz="1600">
                <a:solidFill>
                  <a:srgbClr val="94A3B8"/>
                </a:solidFill>
              </a:defRPr>
            </a:pPr>
            <a:r>
              <a:t>Bagian 11: Pengolahan Citra Digital dan Computer Vision Tingkat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11.6</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kerangka kerja seminal deteksi objek cepat Viola-Jones (2001), konsep matematika fitur Haar-like (fitur tepi, garis, dan pusat), representasi citra integral (integral image) untuk evaluasi kotak berkecepatan konstan O(1), seleksi fitur adaptif AdaBoost, serta arsitektur pengklasifikasi kaskade (attentional cascade).</a:t>
            </a:r>
          </a:p>
          <a:p>
            <a:pPr>
              <a:spcAft>
                <a:spcPts val="400"/>
              </a:spcAft>
              <a:defRPr sz="1100">
                <a:solidFill>
                  <a:srgbClr val="334155"/>
                </a:solidFill>
              </a:defRPr>
            </a:pPr>
            <a:r>
              <a:t>•  Menerapkan (C3) kelas `cv2.CascadeClassifier()` dari modul `cv2.objdetect` untuk mendeteksi wajah pekerja kebun dan mata operator secara real-time pada citra statis dan aliran video menggunakan model XML pra-latih (pre-trained Haar cascades).</a:t>
            </a:r>
          </a:p>
          <a:p>
            <a:pPr>
              <a:spcAft>
                <a:spcPts val="400"/>
              </a:spcAft>
              <a:defRPr sz="1100">
                <a:solidFill>
                  <a:srgbClr val="334155"/>
                </a:solidFill>
              </a:defRPr>
            </a:pPr>
            <a:r>
              <a:t>•  Menganalisis (C4) sensitivitas parameter deteksi multi-skala: faktor penskalaan piramida (`scaleFactor`), batas ambang konsensus tetangga (`minNeighbors`), serta ukuran kotak minimum (`minSize`) terhadap tingkat deteksi benar (true positives) dan alarm palsu (false positives) di area industri kelapa sawit.</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11.6</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Face Detection.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Delta = sum_kotak hitam I(x, y) - sum_kotak putih I(x, y)</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Face Detection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11.6</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HAAR CASCADE DAN INTEGRAL IMAGE FA</a:t>
            </a:r>
          </a:p>
        </p:txBody>
      </p:sp>
      <p:pic>
        <p:nvPicPr>
          <p:cNvPr id="12" name="Picture 11" descr="arsitektur_haar_cascade_dan_integral_image_face_detection.png"/>
          <p:cNvPicPr>
            <a:picLocks noChangeAspect="1"/>
          </p:cNvPicPr>
          <p:nvPr/>
        </p:nvPicPr>
        <p:blipFill>
          <a:blip r:embed="rId2"/>
          <a:stretch>
            <a:fillRect/>
          </a:stretch>
        </p:blipFill>
        <p:spPr>
          <a:xfrm>
            <a:off x="914399" y="2586990"/>
            <a:ext cx="5669280" cy="259842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11.6</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kerangka kerja seminal deteksi objek cepat Viola-Jones (2001), konsep matematika fitur Haar-like (fitur tepi, garis, dan pusat), representasi citra integral (*integral image*) untuk evaluasi kotak berkecepatan konstan $O(1)$, seleksi fitur adaptif AdaBoost, serta arsitektur pengklasifikasi kaskade (*attentional cascade*).</a:t>
            </a:r>
            <a:br/>
            <a:r>
              <a:t>2. **Menerapkan (C3)** kelas `cv2.CascadeClassifier()` dari modul `cv2.objdetect` untuk mendeteksi wajah pekerja kebun dan mata operator secara real-time pada citra statis dan aliran video menggunakan model XML pra-latih (*pre-trained Haar cascades*).</a:t>
            </a:r>
            <a:br/>
            <a:r>
              <a:t>3. **Menganalisis (C4)** sensitivitas parameter deteksi multi-skala: faktor penskalaan piramida (`scaleFactor`), batas ambang konsensus tetangga (`minNeighbors`), serta ukuran kotak minimum (`minSize`) terhadap tingkat deteksi benar (*true positives*) dan alarm palsu (*false positives*) di area industri kelapa sawit.</a:t>
            </a:r>
            <a:br/>
            <a:br/>
            <a:r>
              <a:t>### 1.2 Kerangka Hasil Pembelajaran (Outputs, Outcomes, &amp; Impacts)</a:t>
            </a:r>
            <a:br/>
            <a:r>
              <a:t>* **Outputs (Keluaran Langsung)**:</a:t>
            </a:r>
            <a:br/>
            <a:r>
              <a:t>  * Penguasaan algoritma kalkulasi citra integral dan pembuktian evaluasi area 4-titik referensi.</a:t>
            </a:r>
            <a:br/>
            <a:r>
              <a:t>  * Skrip Python modular berstandar PEP 8 untuk deteksi wajah pekerja, penandaan bounding box, dan pemotongan ROI wajah.</a:t>
            </a:r>
            <a:br/>
            <a:r>
              <a:t>  * Laporan evaluasi komparasi performa deteksi pada variasi parameter `scaleFactor` dan `minNeighbors`.</a:t>
            </a:r>
            <a:br/>
            <a:r>
              <a:t>* **Outcomes (Kompetensi Aplikatif)**:</a:t>
            </a:r>
            <a:br/>
            <a:r>
              <a:t>  * Keahlian merancang sistem absensi biometrik lapangan berbasis kamera gerbang masuk perkebunan.</a:t>
            </a:r>
            <a:br/>
            <a:r>
              <a:t>  * Kemampuan mengintegrasikan deteksi wajah dengan protokol verifikasi kepatuhan alat pelindung diri (helm keselamatan K3).</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11.6</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Face Detection: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11.6</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11.6</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11.6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Face Detection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