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11.4: Thresholding</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dasar binerisasi citra, pembagian kelas latar depan (foreground) dan latar belakang (background), perbedaan mendasar antara penambangan ambang batas global (global thresholding), metode penentuan ambang batas optimal otomatis Otsu, serta penambangan ambang batas adaptif lokal (adaptive local thresholding).</a:t>
            </a:r>
          </a:p>
          <a:p>
            <a:pPr>
              <a:spcAft>
                <a:spcPts val="400"/>
              </a:spcAft>
              <a:defRPr sz="1100">
                <a:solidFill>
                  <a:srgbClr val="334155"/>
                </a:solidFill>
              </a:defRPr>
            </a:pPr>
            <a:r>
              <a:t>•  Menerapkan (C3) fungsi `cv2.threshold()` dengan berbagai tipe flag penambangan (`THRESH_BINARY`, `THRESH_BINARY_INV`, `THRESH_OTSU`) serta `cv2.adaptiveThreshold()` dengan algoritma Mean dan Gaussian menggunakan pustaka OpenCV pada citra pertanian.</a:t>
            </a:r>
          </a:p>
          <a:p>
            <a:pPr>
              <a:spcAft>
                <a:spcPts val="400"/>
              </a:spcAft>
              <a:defRPr sz="1100">
                <a:solidFill>
                  <a:srgbClr val="334155"/>
                </a:solidFill>
              </a:defRPr>
            </a:pPr>
            <a:r>
              <a:t>•  Menganalisis (C4) formulasi matematika varians antar-kelas (inter-class variance) pada algoritma Otsu serta mengevaluasi trade-off ukuran jendela lingkungan (block size) pada penanganan gradien bayangan tajuk kelapa sawit di lapangan.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Thresholding.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p_i = fracn_iN,    sum_i=0^L-1 p_i = 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Thresholding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KOMPARASI METODE THRESHOLDING BINER OTSU ADAP</a:t>
            </a:r>
          </a:p>
        </p:txBody>
      </p:sp>
      <p:pic>
        <p:nvPicPr>
          <p:cNvPr id="12" name="Picture 11" descr="komparasi_metode_thresholding_biner_otsu_adaptif.png"/>
          <p:cNvPicPr>
            <a:picLocks noChangeAspect="1"/>
          </p:cNvPicPr>
          <p:nvPr/>
        </p:nvPicPr>
        <p:blipFill>
          <a:blip r:embed="rId2"/>
          <a:stretch>
            <a:fillRect/>
          </a:stretch>
        </p:blipFill>
        <p:spPr>
          <a:xfrm>
            <a:off x="914399" y="2904978"/>
            <a:ext cx="5669280" cy="196244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dasar binerisasi citra, pembagian kelas latar depan (*foreground*) dan latar belakang (*background*), perbedaan mendasar antara penambangan ambang batas global (*global thresholding*), metode penentuan ambang batas optimal otomatis Otsu, serta penambangan ambang batas adaptif lokal (*adaptive local thresholding*).</a:t>
            </a:r>
            <a:br/>
            <a:r>
              <a:t>2. **Menerapkan (C3)** fungsi `cv2.threshold()` dengan berbagai tipe flag penambangan (`THRESH_BINARY`, `THRESH_BINARY_INV`, `THRESH_OTSU`) serta `cv2.adaptiveThreshold()` dengan algoritma Mean dan Gaussian menggunakan pustaka OpenCV pada citra pertanian.</a:t>
            </a:r>
            <a:br/>
            <a:r>
              <a:t>3. **Menganalisis (C4)** formulasi matematika varians antar-kelas (*inter-class variance*) pada algoritma Otsu serta mengevaluasi trade-off ukuran jendela lingkungan (*block size*) pada penanganan gradien bayangan tajuk kelapa sawit di lapangan.</a:t>
            </a:r>
            <a:br/>
            <a:br/>
            <a:r>
              <a:t>### 1.2 Kerangka Hasil Pembelajaran (Outputs, Outcomes, &amp; Impacts)</a:t>
            </a:r>
            <a:br/>
            <a:r>
              <a:t>* **Outputs (Keluaran Langsung)**:</a:t>
            </a:r>
            <a:br/>
            <a:r>
              <a:t>  * Derivasi matematis fungsi objektif Otsu untuk histogram bimodal.</a:t>
            </a:r>
            <a:br/>
            <a:r>
              <a:t>  * Skrip Python modular berstandar PEP 8 yang membandingkan performa binerisasi ambang global statis, Otsu, dan Adaptif Gaussian.</a:t>
            </a:r>
            <a:br/>
            <a:r>
              <a:t>  * Plot visual hasil segmentasi biner tandan buah sawit di bawah kondisi pencahayaan tidak seragam (*non-uniform illumination*).</a:t>
            </a:r>
            <a:br/>
            <a:r>
              <a:t>* **Outcomes (Kompetensi Aplikatif)**:</a:t>
            </a:r>
            <a:br/>
            <a:r>
              <a:t>  * Keahlian menentukan teknik binerisasi yang paling tepat berdasarkan karakteristik histogram intensitas citra komoditas pertanian.</a:t>
            </a:r>
            <a:br/>
            <a:r>
              <a:t>  * Kemampuan mengisolasi kontur cacat permukaan buah tanpa terpengaruh oleh gradien bayangan alami.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Thresholding: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Thresholding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