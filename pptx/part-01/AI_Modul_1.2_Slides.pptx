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 Sejarah dan Perkembangan Artificial Intelligence</a:t>
            </a:r>
          </a:p>
          <a:p>
            <a:pPr>
              <a:spcBef>
                <a:spcPts val="1200"/>
              </a:spcBef>
              <a:defRPr sz="1600">
                <a:solidFill>
                  <a:srgbClr val="94A3B8"/>
                </a:solidFill>
              </a:defRPr>
            </a:pPr>
            <a:r>
              <a:t>Bagian 1: Pengantar Kecerdasan Buatan &amp; Paradigma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Menguraikan (C2) periodisasi kronologis sejarah perkembangan AI dari era embrio (1943) hingga era Foundation Models dan Generative AI modern.</a:t>
            </a:r>
          </a:p>
          <a:p>
            <a:pPr>
              <a:spcAft>
                <a:spcPts val="400"/>
              </a:spcAft>
              <a:defRPr sz="1100">
                <a:solidFill>
                  <a:srgbClr val="334155"/>
                </a:solidFill>
              </a:defRPr>
            </a:pPr>
            <a:r>
              <a:t>•  Menganalisis (C4) faktor teknologi, ekonomi, dan batasan teoretis yang memicu terjadinya dua kali periode pembekuan riset (First AI Winter 1974–1980 dan Second AI Winter 1987–1993).</a:t>
            </a:r>
          </a:p>
          <a:p>
            <a:pPr>
              <a:spcAft>
                <a:spcPts val="400"/>
              </a:spcAft>
              <a:defRPr sz="1100">
                <a:solidFill>
                  <a:srgbClr val="334155"/>
                </a:solidFill>
              </a:defRPr>
            </a:pPr>
            <a:r>
              <a:t>•  Membuktikan secara matematis dan geometris (C4) keterbatasan pemisahan linier pada model Perceptron Rosenblatt (1958) untuk gerbang logika XOR yang dirumuskan oleh Minsky &amp; Papert (1969).</a:t>
            </a:r>
          </a:p>
          <a:p>
            <a:pPr>
              <a:spcAft>
                <a:spcPts val="400"/>
              </a:spcAft>
              <a:defRPr sz="1100">
                <a:solidFill>
                  <a:srgbClr val="334155"/>
                </a:solidFill>
              </a:defRPr>
            </a:pPr>
            <a:r>
              <a:t>•  Mengimplementasikan (C3) algoritma pelatihan Perceptron klasik dari nol menggunakan bahasa Python dengan dokumentasi komentar per baris yang komprehensif.</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Sejarah dan Perkembangan Artificial Intelligence.</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z = sum_i=1^n w_i x_i + b = mathbfw^T mathbfx + b</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Sejarah dan Perkembangan Artificial Intelligence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KRONOLOGI PASANG SURUT SEJARAH AI</a:t>
            </a:r>
          </a:p>
        </p:txBody>
      </p:sp>
      <p:pic>
        <p:nvPicPr>
          <p:cNvPr id="12" name="Picture 11" descr="timeline_sejarah_ai.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**Menguraikan (C2)** periodisasi kronologis sejarah perkembangan AI dari era embrio (1943) hingga era *Foundation Models* dan *Generative AI* modern.</a:t>
            </a:r>
            <a:br/>
            <a:r>
              <a:t>2. **Menganalisis (C4)** faktor teknologi, ekonomi, dan batasan teoretis yang memicu terjadinya dua kali periode pembekuan riset (*First AI Winter* 1974–1980 dan *Second AI Winter* 1987–1993).</a:t>
            </a:r>
            <a:br/>
            <a:r>
              <a:t>3. **Membuktikan secara matematis dan geometris (C4)** keterbatasan pemisahan linier pada model Perceptron Rosenblatt (1958) untuk gerbang logika XOR yang dirumuskan oleh Minsky &amp; Papert (1969).</a:t>
            </a:r>
            <a:br/>
            <a:r>
              <a:t>4. **Mengimplementasikan (C3)** algoritma pelatihan Perceptron klasik dari nol menggunakan bahasa Python dengan dokumentasi komentar per baris yang komprehensif.</a:t>
            </a:r>
            <a:br/>
            <a:br/>
            <a:r>
              <a:t>### 1.2 Kerangka Hasil Pembelajaran (Outputs, Outcomes, &amp; Impacts)</a:t>
            </a:r>
            <a:br/>
            <a:r>
              <a:t>* **Outputs (Keluaran Berwujud Langsung)**:</a:t>
            </a:r>
            <a:br/>
            <a:r>
              <a:t>  * Dokumen pembuktian aljabar matematis mengenai ketidakmungkinan fungsi linier memisahkan problem non-linier XOR.</a:t>
            </a:r>
            <a:br/>
            <a:r>
              <a:t>  * Berkas kode program Python mandiri yang mereplikasi model *Rosenblatt Perceptron* klasik lengkap dengan visualisasi batas keputusan (*decision boundary*).</a:t>
            </a:r>
            <a:br/>
            <a:r>
              <a:t>  * Laporan komparasi konvergensi pelatihan Perceptron pada gerbang AND (berhasil dalam beberapa iterasi) vs gerbang XOR (osilasi tanpa batas / gagal konvergen).</a:t>
            </a:r>
            <a:br/>
            <a:r>
              <a:t>* **Outcomes (Hasil Capaian &amp; Perubahan Kompetensi)**:</a:t>
            </a:r>
            <a:br/>
            <a:r>
              <a:t>  * Mahasiswa memiliki perspektif kritis terhadap kurva sensasi (*hype curve*) teknologi AI sehingga mampu membedakan antara ekspektasi yang realistis dengan janji berlebihan (*overpromising*).</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Sejarah dan Perkembangan Artificial Intelligence: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PART-01 • AI Modul 1.2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Sejarah dan Perkembangan Artificial Intelligence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