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14400" y="1097280"/>
            <a:ext cx="6217920" cy="365760"/>
          </a:xfrm>
          <a:prstGeom prst="round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38BDF8"/>
                </a:solidFill>
              </a:defRPr>
            </a:pPr>
            <a:r>
              <a:t>KURSUS PROFESIONAL &amp; AKADEMIS KECERDASAN BUATAN</a:t>
            </a:r>
          </a:p>
        </p:txBody>
      </p:sp>
      <p:sp>
        <p:nvSpPr>
          <p:cNvPr id="4" name="TextBox 3"/>
          <p:cNvSpPr txBox="1"/>
          <p:nvPr/>
        </p:nvSpPr>
        <p:spPr>
          <a:xfrm>
            <a:off x="914400" y="1645920"/>
            <a:ext cx="10362895" cy="2926080"/>
          </a:xfrm>
          <a:prstGeom prst="rect">
            <a:avLst/>
          </a:prstGeom>
          <a:noFill/>
        </p:spPr>
        <p:txBody>
          <a:bodyPr wrap="square">
            <a:spAutoFit/>
          </a:bodyPr>
          <a:lstStyle/>
          <a:p>
            <a:pPr>
              <a:defRPr sz="3200" b="1">
                <a:solidFill>
                  <a:srgbClr val="FFFFFF"/>
                </a:solidFill>
              </a:defRPr>
            </a:pPr>
            <a:r>
              <a:t>AI Modul 1.6: Workflow Pengembangan Proyek Artificial Intelligence (AI Project Lifecycle)</a:t>
            </a:r>
          </a:p>
          <a:p>
            <a:pPr>
              <a:spcBef>
                <a:spcPts val="1200"/>
              </a:spcBef>
              <a:defRPr sz="1600">
                <a:solidFill>
                  <a:srgbClr val="94A3B8"/>
                </a:solidFill>
              </a:defRPr>
            </a:pPr>
            <a:r>
              <a:t>Bagian 1: Pengantar Kecerdasan Buatan &amp; Paradigma AI</a:t>
            </a:r>
            <a:br/>
            <a:r>
              <a:t>Integrasi Fondasi Komputasi &amp; Rekayasa Presisi Sektor Perkebunan Sawit</a:t>
            </a:r>
          </a:p>
        </p:txBody>
      </p:sp>
      <p:sp>
        <p:nvSpPr>
          <p:cNvPr id="5" name="Rounded Rectangle 4"/>
          <p:cNvSpPr/>
          <p:nvPr/>
        </p:nvSpPr>
        <p:spPr>
          <a:xfrm>
            <a:off x="91440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4983480"/>
            <a:ext cx="2240280" cy="1005840"/>
          </a:xfrm>
          <a:prstGeom prst="rect">
            <a:avLst/>
          </a:prstGeom>
          <a:noFill/>
        </p:spPr>
        <p:txBody>
          <a:bodyPr wrap="square">
            <a:spAutoFit/>
          </a:bodyPr>
          <a:lstStyle/>
          <a:p>
            <a:pPr>
              <a:defRPr sz="900" b="1">
                <a:solidFill>
                  <a:srgbClr val="94A3B8"/>
                </a:solidFill>
              </a:defRPr>
            </a:pPr>
            <a:r>
              <a:t>BEBAN AKADEMIK</a:t>
            </a:r>
          </a:p>
          <a:p>
            <a:pPr>
              <a:spcBef>
                <a:spcPts val="400"/>
              </a:spcBef>
              <a:defRPr sz="1100" b="1">
                <a:solidFill>
                  <a:srgbClr val="F1F5F9"/>
                </a:solidFill>
              </a:defRPr>
            </a:pPr>
            <a:r>
              <a:t>3 SKS (Teori &amp; Praktikum)</a:t>
            </a:r>
          </a:p>
        </p:txBody>
      </p:sp>
      <p:sp>
        <p:nvSpPr>
          <p:cNvPr id="7" name="Rounded Rectangle 6"/>
          <p:cNvSpPr/>
          <p:nvPr/>
        </p:nvSpPr>
        <p:spPr>
          <a:xfrm>
            <a:off x="356616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0" y="4983480"/>
            <a:ext cx="2240280" cy="1005840"/>
          </a:xfrm>
          <a:prstGeom prst="rect">
            <a:avLst/>
          </a:prstGeom>
          <a:noFill/>
        </p:spPr>
        <p:txBody>
          <a:bodyPr wrap="square">
            <a:spAutoFit/>
          </a:bodyPr>
          <a:lstStyle/>
          <a:p>
            <a:pPr>
              <a:defRPr sz="900" b="1">
                <a:solidFill>
                  <a:srgbClr val="94A3B8"/>
                </a:solidFill>
              </a:defRPr>
            </a:pPr>
            <a:r>
              <a:t>ALOKASI WAKTU</a:t>
            </a:r>
          </a:p>
          <a:p>
            <a:pPr>
              <a:spcBef>
                <a:spcPts val="400"/>
              </a:spcBef>
              <a:defRPr sz="1100" b="1">
                <a:solidFill>
                  <a:srgbClr val="F1F5F9"/>
                </a:solidFill>
              </a:defRPr>
            </a:pPr>
            <a:r>
              <a:t>2x50m Teori + 2x50m Praktikum</a:t>
            </a:r>
          </a:p>
        </p:txBody>
      </p:sp>
      <p:sp>
        <p:nvSpPr>
          <p:cNvPr id="9" name="Rounded Rectangle 8"/>
          <p:cNvSpPr/>
          <p:nvPr/>
        </p:nvSpPr>
        <p:spPr>
          <a:xfrm>
            <a:off x="621792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59" y="4983480"/>
            <a:ext cx="2240280" cy="1005840"/>
          </a:xfrm>
          <a:prstGeom prst="rect">
            <a:avLst/>
          </a:prstGeom>
          <a:noFill/>
        </p:spPr>
        <p:txBody>
          <a:bodyPr wrap="square">
            <a:spAutoFit/>
          </a:bodyPr>
          <a:lstStyle/>
          <a:p>
            <a:pPr>
              <a:defRPr sz="900" b="1">
                <a:solidFill>
                  <a:srgbClr val="94A3B8"/>
                </a:solidFill>
              </a:defRPr>
            </a:pPr>
            <a:r>
              <a:t>TINGKAT KOGNITIF</a:t>
            </a:r>
          </a:p>
          <a:p>
            <a:pPr>
              <a:spcBef>
                <a:spcPts val="400"/>
              </a:spcBef>
              <a:defRPr sz="1100" b="1">
                <a:solidFill>
                  <a:srgbClr val="F1F5F9"/>
                </a:solidFill>
              </a:defRPr>
            </a:pPr>
            <a:r>
              <a:t>Bloom C2 - C5 (HOTS Analitis)</a:t>
            </a:r>
          </a:p>
        </p:txBody>
      </p:sp>
      <p:sp>
        <p:nvSpPr>
          <p:cNvPr id="11" name="Rounded Rectangle 10"/>
          <p:cNvSpPr/>
          <p:nvPr/>
        </p:nvSpPr>
        <p:spPr>
          <a:xfrm>
            <a:off x="886968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19" y="4983480"/>
            <a:ext cx="2240280" cy="1005840"/>
          </a:xfrm>
          <a:prstGeom prst="rect">
            <a:avLst/>
          </a:prstGeom>
          <a:noFill/>
        </p:spPr>
        <p:txBody>
          <a:bodyPr wrap="square">
            <a:spAutoFit/>
          </a:bodyPr>
          <a:lstStyle/>
          <a:p>
            <a:pPr>
              <a:defRPr sz="900" b="1">
                <a:solidFill>
                  <a:srgbClr val="94A3B8"/>
                </a:solidFill>
              </a:defRPr>
            </a:pPr>
            <a:r>
              <a:t>DOMAIN TERAPAN</a:t>
            </a:r>
          </a:p>
          <a:p>
            <a:pPr>
              <a:spcBef>
                <a:spcPts val="400"/>
              </a:spcBef>
              <a:defRPr sz="1100" b="1">
                <a:solidFill>
                  <a:srgbClr val="F1F5F9"/>
                </a:solidFill>
              </a:defRPr>
            </a:pPr>
            <a:r>
              <a:t>Agro-Industri &amp; Kelapa Sawit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PART-01 • AI Modul 1.6</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Capaian Pembelajaran Khusus (Sub-CPMK) &amp; Kerangka Hasil</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1.6</a:t>
            </a:r>
          </a:p>
        </p:txBody>
      </p:sp>
      <p:sp>
        <p:nvSpPr>
          <p:cNvPr id="10" name="Rounded Rectangle 9"/>
          <p:cNvSpPr/>
          <p:nvPr/>
        </p:nvSpPr>
        <p:spPr>
          <a:xfrm>
            <a:off x="731520" y="1371600"/>
            <a:ext cx="10728655" cy="2103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10454335" cy="365760"/>
          </a:xfrm>
          <a:prstGeom prst="rect">
            <a:avLst/>
          </a:prstGeom>
          <a:noFill/>
        </p:spPr>
        <p:txBody>
          <a:bodyPr wrap="none">
            <a:spAutoFit/>
          </a:bodyPr>
          <a:lstStyle/>
          <a:p>
            <a:pPr>
              <a:defRPr sz="1300" b="1">
                <a:solidFill>
                  <a:srgbClr val="0F172A"/>
                </a:solidFill>
              </a:defRPr>
            </a:pPr>
            <a:r>
              <a:t>SASARAN PEMBELAJARAN (SUB-CPMK)</a:t>
            </a:r>
          </a:p>
        </p:txBody>
      </p:sp>
      <p:sp>
        <p:nvSpPr>
          <p:cNvPr id="12" name="TextBox 11"/>
          <p:cNvSpPr txBox="1"/>
          <p:nvPr/>
        </p:nvSpPr>
        <p:spPr>
          <a:xfrm>
            <a:off x="914400" y="1828800"/>
            <a:ext cx="10362895" cy="1463040"/>
          </a:xfrm>
          <a:prstGeom prst="rect">
            <a:avLst/>
          </a:prstGeom>
          <a:noFill/>
        </p:spPr>
        <p:txBody>
          <a:bodyPr wrap="square">
            <a:spAutoFit/>
          </a:bodyPr>
          <a:lstStyle/>
          <a:p>
            <a:pPr>
              <a:spcAft>
                <a:spcPts val="400"/>
              </a:spcAft>
              <a:defRPr sz="1100">
                <a:solidFill>
                  <a:srgbClr val="334155"/>
                </a:solidFill>
              </a:defRPr>
            </a:pPr>
            <a:r>
              <a:t>•  Menguraikan (C2) 6 fase komprehensif dalam siklus hidup rekayasa proyek AI dari formulasi problem bisnis hingga pemeliharaan pasca-luncur (MLOps).</a:t>
            </a:r>
          </a:p>
          <a:p>
            <a:pPr>
              <a:spcAft>
                <a:spcPts val="400"/>
              </a:spcAft>
              <a:defRPr sz="1100">
                <a:solidFill>
                  <a:srgbClr val="334155"/>
                </a:solidFill>
              </a:defRPr>
            </a:pPr>
            <a:r>
              <a:t>•  Mendiagnosis (C4) potensi kebocoran data (Data Leakage) pada tahap rekayasa fitur dan merancang protokol isolasi partisi data yang ketat.</a:t>
            </a:r>
          </a:p>
          <a:p>
            <a:pPr>
              <a:spcAft>
                <a:spcPts val="400"/>
              </a:spcAft>
              <a:defRPr sz="1100">
                <a:solidFill>
                  <a:srgbClr val="334155"/>
                </a:solidFill>
              </a:defRPr>
            </a:pPr>
            <a:r>
              <a:t>•  Mengevaluasi (C4) stabilitas populasi data menggunakan formulasi matematis Population Stability Index (PSI) untuk mendeteksi pergeseran kovariat (Covariate Shift).</a:t>
            </a:r>
          </a:p>
          <a:p>
            <a:pPr>
              <a:spcAft>
                <a:spcPts val="400"/>
              </a:spcAft>
              <a:defRPr sz="1100">
                <a:solidFill>
                  <a:srgbClr val="334155"/>
                </a:solidFill>
              </a:defRPr>
            </a:pPr>
            <a:r>
              <a:t>•  Mengimplementasikan (C3) pipeline terpadu anti-leakage menggunakan `sklearn.pipeline.Pipeline`, serialisasi model, dan mekanisme pemicu pelatihan ulang otomatis (Automated Retraining).</a:t>
            </a:r>
          </a:p>
        </p:txBody>
      </p:sp>
      <p:sp>
        <p:nvSpPr>
          <p:cNvPr id="13" name="Rounded Rectangle 12"/>
          <p:cNvSpPr/>
          <p:nvPr/>
        </p:nvSpPr>
        <p:spPr>
          <a:xfrm>
            <a:off x="731520" y="3657600"/>
            <a:ext cx="3456432" cy="2468880"/>
          </a:xfrm>
          <a:prstGeom prst="roundRect">
            <a:avLst/>
          </a:prstGeom>
          <a:solidFill>
            <a:srgbClr val="FFFFFF"/>
          </a:solidFill>
          <a:ln w="1524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749039"/>
            <a:ext cx="3182112" cy="365760"/>
          </a:xfrm>
          <a:prstGeom prst="rect">
            <a:avLst/>
          </a:prstGeom>
          <a:noFill/>
        </p:spPr>
        <p:txBody>
          <a:bodyPr wrap="none">
            <a:spAutoFit/>
          </a:bodyPr>
          <a:lstStyle/>
          <a:p>
            <a:pPr>
              <a:defRPr sz="1300" b="1">
                <a:solidFill>
                  <a:srgbClr val="0F172A"/>
                </a:solidFill>
              </a:defRPr>
            </a:pPr>
            <a:r>
              <a:t>OUTPUTS (Keluaran Berwujud)</a:t>
            </a:r>
          </a:p>
        </p:txBody>
      </p:sp>
      <p:sp>
        <p:nvSpPr>
          <p:cNvPr id="15" name="TextBox 14"/>
          <p:cNvSpPr txBox="1"/>
          <p:nvPr/>
        </p:nvSpPr>
        <p:spPr>
          <a:xfrm>
            <a:off x="868680" y="4114800"/>
            <a:ext cx="3182112" cy="1920240"/>
          </a:xfrm>
          <a:prstGeom prst="rect">
            <a:avLst/>
          </a:prstGeom>
          <a:noFill/>
        </p:spPr>
        <p:txBody>
          <a:bodyPr wrap="square">
            <a:spAutoFit/>
          </a:bodyPr>
          <a:lstStyle/>
          <a:p>
            <a:pPr>
              <a:spcAft>
                <a:spcPts val="600"/>
              </a:spcAft>
              <a:defRPr sz="1000">
                <a:solidFill>
                  <a:srgbClr val="334155"/>
                </a:solidFill>
              </a:defRPr>
            </a:pPr>
            <a:r>
              <a:t>✓  Dokumen spesifikasi arsitektur komputasi dan formulasi variabel model.</a:t>
            </a:r>
          </a:p>
          <a:p>
            <a:pPr>
              <a:spcAft>
                <a:spcPts val="600"/>
              </a:spcAft>
              <a:defRPr sz="1000">
                <a:solidFill>
                  <a:srgbClr val="334155"/>
                </a:solidFill>
              </a:defRPr>
            </a:pPr>
            <a:r>
              <a:t>✓  Skrip kode program Python modular yang lulus validasi unit testing.</a:t>
            </a:r>
          </a:p>
          <a:p>
            <a:pPr>
              <a:spcAft>
                <a:spcPts val="600"/>
              </a:spcAft>
              <a:defRPr sz="1000">
                <a:solidFill>
                  <a:srgbClr val="334155"/>
                </a:solidFill>
              </a:defRPr>
            </a:pPr>
            <a:r>
              <a:t>✓  Laporan visualisasi metrik performa empiris pada data perkebunan.</a:t>
            </a:r>
          </a:p>
        </p:txBody>
      </p:sp>
      <p:sp>
        <p:nvSpPr>
          <p:cNvPr id="16" name="Rounded Rectangle 15"/>
          <p:cNvSpPr/>
          <p:nvPr/>
        </p:nvSpPr>
        <p:spPr>
          <a:xfrm>
            <a:off x="4370832" y="3657600"/>
            <a:ext cx="3456432" cy="2468880"/>
          </a:xfrm>
          <a:prstGeom prst="roundRect">
            <a:avLst/>
          </a:prstGeom>
          <a:solidFill>
            <a:srgbClr val="FFFFFF"/>
          </a:solidFill>
          <a:ln w="1524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07992" y="3749039"/>
            <a:ext cx="3182112" cy="365760"/>
          </a:xfrm>
          <a:prstGeom prst="rect">
            <a:avLst/>
          </a:prstGeom>
          <a:noFill/>
        </p:spPr>
        <p:txBody>
          <a:bodyPr wrap="none">
            <a:spAutoFit/>
          </a:bodyPr>
          <a:lstStyle/>
          <a:p>
            <a:pPr>
              <a:defRPr sz="1300" b="1">
                <a:solidFill>
                  <a:srgbClr val="0F172A"/>
                </a:solidFill>
              </a:defRPr>
            </a:pPr>
            <a:r>
              <a:t>OUTCOMES (Kompetensi Inti)</a:t>
            </a:r>
          </a:p>
        </p:txBody>
      </p:sp>
      <p:sp>
        <p:nvSpPr>
          <p:cNvPr id="18" name="TextBox 17"/>
          <p:cNvSpPr txBox="1"/>
          <p:nvPr/>
        </p:nvSpPr>
        <p:spPr>
          <a:xfrm>
            <a:off x="4507992" y="4114800"/>
            <a:ext cx="3182112" cy="1920240"/>
          </a:xfrm>
          <a:prstGeom prst="rect">
            <a:avLst/>
          </a:prstGeom>
          <a:noFill/>
        </p:spPr>
        <p:txBody>
          <a:bodyPr wrap="square">
            <a:spAutoFit/>
          </a:bodyPr>
          <a:lstStyle/>
          <a:p>
            <a:pPr>
              <a:spcAft>
                <a:spcPts val="600"/>
              </a:spcAft>
              <a:defRPr sz="1000">
                <a:solidFill>
                  <a:srgbClr val="334155"/>
                </a:solidFill>
              </a:defRPr>
            </a:pPr>
            <a:r>
              <a:t>✓  Penguasaan notasi matematika dan formulasi fungsi objektif komputasi.</a:t>
            </a:r>
          </a:p>
          <a:p>
            <a:pPr>
              <a:spcAft>
                <a:spcPts val="600"/>
              </a:spcAft>
              <a:defRPr sz="1000">
                <a:solidFill>
                  <a:srgbClr val="334155"/>
                </a:solidFill>
              </a:defRPr>
            </a:pPr>
            <a:r>
              <a:t>✓  Keterampilan mendiagnosis anomali data, degradasi performa, dan overfitting.</a:t>
            </a:r>
          </a:p>
          <a:p>
            <a:pPr>
              <a:spcAft>
                <a:spcPts val="600"/>
              </a:spcAft>
              <a:defRPr sz="1000">
                <a:solidFill>
                  <a:srgbClr val="334155"/>
                </a:solidFill>
              </a:defRPr>
            </a:pPr>
            <a:r>
              <a:t>✓  Kemampuan memilih algoritma paling optimal sesuai kendala komputasi.</a:t>
            </a:r>
          </a:p>
        </p:txBody>
      </p:sp>
      <p:sp>
        <p:nvSpPr>
          <p:cNvPr id="19" name="Rounded Rectangle 18"/>
          <p:cNvSpPr/>
          <p:nvPr/>
        </p:nvSpPr>
        <p:spPr>
          <a:xfrm>
            <a:off x="8010144" y="3657600"/>
            <a:ext cx="3456432" cy="246888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147304" y="3749039"/>
            <a:ext cx="3182112" cy="365760"/>
          </a:xfrm>
          <a:prstGeom prst="rect">
            <a:avLst/>
          </a:prstGeom>
          <a:noFill/>
        </p:spPr>
        <p:txBody>
          <a:bodyPr wrap="none">
            <a:spAutoFit/>
          </a:bodyPr>
          <a:lstStyle/>
          <a:p>
            <a:pPr>
              <a:defRPr sz="1300" b="1">
                <a:solidFill>
                  <a:srgbClr val="0F172A"/>
                </a:solidFill>
              </a:defRPr>
            </a:pPr>
            <a:r>
              <a:t>IMPACTS (Dampak Industri)</a:t>
            </a:r>
          </a:p>
        </p:txBody>
      </p:sp>
      <p:sp>
        <p:nvSpPr>
          <p:cNvPr id="21" name="TextBox 20"/>
          <p:cNvSpPr txBox="1"/>
          <p:nvPr/>
        </p:nvSpPr>
        <p:spPr>
          <a:xfrm>
            <a:off x="8147304" y="4114800"/>
            <a:ext cx="3182112" cy="1920240"/>
          </a:xfrm>
          <a:prstGeom prst="rect">
            <a:avLst/>
          </a:prstGeom>
          <a:noFill/>
        </p:spPr>
        <p:txBody>
          <a:bodyPr wrap="square">
            <a:spAutoFit/>
          </a:bodyPr>
          <a:lstStyle/>
          <a:p>
            <a:pPr>
              <a:spcAft>
                <a:spcPts val="600"/>
              </a:spcAft>
              <a:defRPr sz="1000">
                <a:solidFill>
                  <a:srgbClr val="334155"/>
                </a:solidFill>
              </a:defRPr>
            </a:pPr>
            <a:r>
              <a:t>✓  Peningkatan efisiensi operasional dan reduksi losses di pabrik/kebun sawit.</a:t>
            </a:r>
          </a:p>
          <a:p>
            <a:pPr>
              <a:spcAft>
                <a:spcPts val="600"/>
              </a:spcAft>
              <a:defRPr sz="1000">
                <a:solidFill>
                  <a:srgbClr val="334155"/>
                </a:solidFill>
              </a:defRPr>
            </a:pPr>
            <a:r>
              <a:t>✓  Pola pikir insinyur AI rasional yang tangguh menghadapi noise data riil.</a:t>
            </a:r>
          </a:p>
          <a:p>
            <a:pPr>
              <a:spcAft>
                <a:spcPts val="600"/>
              </a:spcAft>
              <a:defRPr sz="1000">
                <a:solidFill>
                  <a:srgbClr val="334155"/>
                </a:solidFill>
              </a:defRPr>
            </a:pPr>
            <a:r>
              <a:t>✓  Akselerasi otomatisasi presisi menuju transformasi industri 4.0 berkelanjutan.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PART-01 • AI Modul 1.6</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Landasan Teori &amp; Formulasi Matematis Kunci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1.6</a:t>
            </a:r>
          </a:p>
        </p:txBody>
      </p:sp>
      <p:sp>
        <p:nvSpPr>
          <p:cNvPr id="10" name="Rounded Rectangle 9"/>
          <p:cNvSpPr/>
          <p:nvPr/>
        </p:nvSpPr>
        <p:spPr>
          <a:xfrm>
            <a:off x="731520" y="1371600"/>
            <a:ext cx="5212080" cy="32918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FONDASI KONSEPTUAL &amp; PARADIGMA TEORI</a:t>
            </a:r>
          </a:p>
        </p:txBody>
      </p:sp>
      <p:sp>
        <p:nvSpPr>
          <p:cNvPr id="12" name="TextBox 11"/>
          <p:cNvSpPr txBox="1"/>
          <p:nvPr/>
        </p:nvSpPr>
        <p:spPr>
          <a:xfrm>
            <a:off x="914400" y="1828800"/>
            <a:ext cx="4846320" cy="2651760"/>
          </a:xfrm>
          <a:prstGeom prst="rect">
            <a:avLst/>
          </a:prstGeom>
          <a:noFill/>
        </p:spPr>
        <p:txBody>
          <a:bodyPr wrap="square">
            <a:spAutoFit/>
          </a:bodyPr>
          <a:lstStyle/>
          <a:p>
            <a:pPr>
              <a:spcAft>
                <a:spcPts val="600"/>
              </a:spcAft>
              <a:defRPr sz="1100">
                <a:solidFill>
                  <a:srgbClr val="334155"/>
                </a:solidFill>
              </a:defRPr>
            </a:pPr>
            <a:r>
              <a:t>•  Definisi Formal: Menetapkan kerangka kerja matematis dan algoritma komputasi untuk mengabstraksi pola pada Workflow Pengembangan Proyek Artificial Intelligence (AI Project Lifecycle).</a:t>
            </a:r>
          </a:p>
          <a:p>
            <a:pPr>
              <a:spcAft>
                <a:spcPts val="600"/>
              </a:spcAft>
              <a:defRPr sz="1100">
                <a:solidFill>
                  <a:srgbClr val="334155"/>
                </a:solidFill>
              </a:defRPr>
            </a:pPr>
            <a:r>
              <a:t>•  Prinsip Operasional: Memanfaatkan optimasi fungsi berparameter untuk meminimalkan deviasi dan meningkatkan generalisasi.</a:t>
            </a:r>
          </a:p>
          <a:p>
            <a:pPr>
              <a:spcAft>
                <a:spcPts val="600"/>
              </a:spcAft>
              <a:defRPr sz="1100">
                <a:solidFill>
                  <a:srgbClr val="334155"/>
                </a:solidFill>
              </a:defRPr>
            </a:pPr>
            <a:r>
              <a:t>•  Analogi Fisis/Domain: Merefleksikan mekanisme adaptasi biologis dan respons fisik tanaman/lingkungan terhadap masukan eksternal.</a:t>
            </a:r>
          </a:p>
          <a:p>
            <a:pPr>
              <a:spcAft>
                <a:spcPts val="600"/>
              </a:spcAft>
              <a:defRPr sz="1100">
                <a:solidFill>
                  <a:srgbClr val="334155"/>
                </a:solidFill>
              </a:defRPr>
            </a:pPr>
            <a:r>
              <a:t>•  Ketahanan Stokastik: Mengendalikan variabilitas acak melalui estimasi probabilistik dan normalisasi ruang fitur.</a:t>
            </a:r>
          </a:p>
        </p:txBody>
      </p:sp>
      <p:sp>
        <p:nvSpPr>
          <p:cNvPr id="13" name="Rounded Rectangle 12"/>
          <p:cNvSpPr/>
          <p:nvPr/>
        </p:nvSpPr>
        <p:spPr>
          <a:xfrm>
            <a:off x="6217920" y="1371600"/>
            <a:ext cx="5242255" cy="329184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FORMULASI MATEMATIS &amp; FUNGSI OBJEKTIF</a:t>
            </a:r>
          </a:p>
        </p:txBody>
      </p:sp>
      <p:sp>
        <p:nvSpPr>
          <p:cNvPr id="15" name="TextBox 14"/>
          <p:cNvSpPr txBox="1"/>
          <p:nvPr/>
        </p:nvSpPr>
        <p:spPr>
          <a:xfrm>
            <a:off x="6400800" y="1828800"/>
            <a:ext cx="4876495" cy="2651760"/>
          </a:xfrm>
          <a:prstGeom prst="rect">
            <a:avLst/>
          </a:prstGeom>
          <a:noFill/>
        </p:spPr>
        <p:txBody>
          <a:bodyPr wrap="square">
            <a:spAutoFit/>
          </a:bodyPr>
          <a:lstStyle/>
          <a:p>
            <a:pPr>
              <a:defRPr sz="1100" b="1">
                <a:solidFill>
                  <a:srgbClr val="0F172A"/>
                </a:solidFill>
              </a:defRPr>
            </a:pPr>
            <a:r>
              <a:t>Persamaan Kunci Pemetaan &amp; Optimasi:</a:t>
            </a:r>
          </a:p>
          <a:p>
            <a:pPr>
              <a:spcBef>
                <a:spcPts val="600"/>
              </a:spcBef>
              <a:spcAft>
                <a:spcPts val="800"/>
              </a:spcAft>
              <a:defRPr sz="1000" b="1">
                <a:solidFill>
                  <a:srgbClr val="1E3A8A"/>
                </a:solidFill>
                <a:latin typeface="Consolas"/>
              </a:defRPr>
            </a:pPr>
            <a:r>
              <a:t>    Indeks Stres Air = fracSuhu Permukaan DaunKelembaban Tanah + epsilon</a:t>
            </a:r>
          </a:p>
          <a:p>
            <a:pPr>
              <a:spcAft>
                <a:spcPts val="400"/>
              </a:spcAft>
              <a:defRPr sz="1000">
                <a:solidFill>
                  <a:srgbClr val="475569"/>
                </a:solidFill>
              </a:defRPr>
            </a:pPr>
            <a:r>
              <a:t>•  x ∈ R^d: Vektor representasi fitur masukan berdimensi d.</a:t>
            </a:r>
          </a:p>
          <a:p>
            <a:pPr>
              <a:spcAft>
                <a:spcPts val="400"/>
              </a:spcAft>
              <a:defRPr sz="1000">
                <a:solidFill>
                  <a:srgbClr val="475569"/>
                </a:solidFill>
              </a:defRPr>
            </a:pPr>
            <a:r>
              <a:t>•  θ = {W, b}: Parameter bobot penimbang dan bias yang dioptimasi.</a:t>
            </a:r>
          </a:p>
          <a:p>
            <a:pPr>
              <a:spcAft>
                <a:spcPts val="400"/>
              </a:spcAft>
              <a:defRPr sz="1000">
                <a:solidFill>
                  <a:srgbClr val="475569"/>
                </a:solidFill>
              </a:defRPr>
            </a:pPr>
            <a:r>
              <a:t>•  σ(·): Pemetaan fungsi aktivasi atau fungsi transfer non-linier.</a:t>
            </a:r>
          </a:p>
          <a:p>
            <a:pPr>
              <a:spcAft>
                <a:spcPts val="400"/>
              </a:spcAft>
              <a:defRPr sz="1000">
                <a:solidFill>
                  <a:srgbClr val="475569"/>
                </a:solidFill>
              </a:defRPr>
            </a:pPr>
            <a:r>
              <a:t>•  L(θ): Fungsi objektif/kerugian pemandu konvergensi gradien.</a:t>
            </a:r>
          </a:p>
        </p:txBody>
      </p:sp>
      <p:sp>
        <p:nvSpPr>
          <p:cNvPr id="16" name="Rounded Rectangle 15"/>
          <p:cNvSpPr/>
          <p:nvPr/>
        </p:nvSpPr>
        <p:spPr>
          <a:xfrm>
            <a:off x="731520" y="4800600"/>
            <a:ext cx="10728655" cy="137160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892040"/>
            <a:ext cx="10454335" cy="365760"/>
          </a:xfrm>
          <a:prstGeom prst="rect">
            <a:avLst/>
          </a:prstGeom>
          <a:noFill/>
        </p:spPr>
        <p:txBody>
          <a:bodyPr wrap="none">
            <a:spAutoFit/>
          </a:bodyPr>
          <a:lstStyle/>
          <a:p>
            <a:pPr>
              <a:defRPr sz="1300" b="1">
                <a:solidFill>
                  <a:srgbClr val="0F172A"/>
                </a:solidFill>
              </a:defRPr>
            </a:pPr>
            <a:r>
              <a:t>SIGNIFIKANSI KOMPUTASIONAL &amp; IMPLIKASI REKAYASA</a:t>
            </a:r>
          </a:p>
        </p:txBody>
      </p:sp>
      <p:sp>
        <p:nvSpPr>
          <p:cNvPr id="18" name="TextBox 17"/>
          <p:cNvSpPr txBox="1"/>
          <p:nvPr/>
        </p:nvSpPr>
        <p:spPr>
          <a:xfrm>
            <a:off x="914400" y="5166360"/>
            <a:ext cx="10362895" cy="868680"/>
          </a:xfrm>
          <a:prstGeom prst="rect">
            <a:avLst/>
          </a:prstGeom>
          <a:noFill/>
        </p:spPr>
        <p:txBody>
          <a:bodyPr wrap="square">
            <a:spAutoFit/>
          </a:bodyPr>
          <a:lstStyle/>
          <a:p>
            <a:pPr>
              <a:defRPr sz="1050">
                <a:solidFill>
                  <a:srgbClr val="334155"/>
                </a:solidFill>
              </a:defRPr>
            </a:pPr>
            <a:r>
              <a:t>Formulasi matematika pada Workflow Pengembangan Proyek Artificial Intelligence (AI Project Lifecycle) memastikan kepastian stabilitas numerik saat dieksekusi pada unit pemrosesan edge maupun kluster server industri, memungkinkan inferensi dengan latensi rendah dan konvergensi stabil pada kondisi data lapangan yang heterogen.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PART-01 • AI Modul 1.6</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Arsitektur Komputasi &amp; Diagram Alir Pipeline</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1.6</a:t>
            </a:r>
          </a:p>
        </p:txBody>
      </p:sp>
      <p:sp>
        <p:nvSpPr>
          <p:cNvPr id="10" name="Rounded Rectangle 9"/>
          <p:cNvSpPr/>
          <p:nvPr/>
        </p:nvSpPr>
        <p:spPr>
          <a:xfrm>
            <a:off x="731520" y="1371600"/>
            <a:ext cx="6035040"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5760720" cy="365760"/>
          </a:xfrm>
          <a:prstGeom prst="rect">
            <a:avLst/>
          </a:prstGeom>
          <a:noFill/>
        </p:spPr>
        <p:txBody>
          <a:bodyPr wrap="none">
            <a:spAutoFit/>
          </a:bodyPr>
          <a:lstStyle/>
          <a:p>
            <a:pPr>
              <a:defRPr sz="1300" b="1">
                <a:solidFill>
                  <a:srgbClr val="0F172A"/>
                </a:solidFill>
              </a:defRPr>
            </a:pPr>
            <a:r>
              <a:t>DIAGRAM: SIKLUS HIDUP TERPADU REKAYASA PROYEK AI</a:t>
            </a:r>
          </a:p>
        </p:txBody>
      </p:sp>
      <p:pic>
        <p:nvPicPr>
          <p:cNvPr id="12" name="Picture 11" descr="ai_project_lifecycle_workflow.png"/>
          <p:cNvPicPr>
            <a:picLocks noChangeAspect="1"/>
          </p:cNvPicPr>
          <p:nvPr/>
        </p:nvPicPr>
        <p:blipFill>
          <a:blip r:embed="rId2"/>
          <a:stretch>
            <a:fillRect/>
          </a:stretch>
        </p:blipFill>
        <p:spPr>
          <a:xfrm>
            <a:off x="914399" y="2479866"/>
            <a:ext cx="5669280" cy="2812666"/>
          </a:xfrm>
          <a:prstGeom prst="rect">
            <a:avLst/>
          </a:prstGeom>
        </p:spPr>
      </p:pic>
      <p:sp>
        <p:nvSpPr>
          <p:cNvPr id="13" name="Rounded Rectangle 12"/>
          <p:cNvSpPr/>
          <p:nvPr/>
        </p:nvSpPr>
        <p:spPr>
          <a:xfrm>
            <a:off x="6949440" y="1371600"/>
            <a:ext cx="4510735"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86600" y="1463040"/>
            <a:ext cx="4236415" cy="365760"/>
          </a:xfrm>
          <a:prstGeom prst="rect">
            <a:avLst/>
          </a:prstGeom>
          <a:noFill/>
        </p:spPr>
        <p:txBody>
          <a:bodyPr wrap="none">
            <a:spAutoFit/>
          </a:bodyPr>
          <a:lstStyle/>
          <a:p>
            <a:pPr>
              <a:defRPr sz="1300" b="1">
                <a:solidFill>
                  <a:srgbClr val="0F172A"/>
                </a:solidFill>
              </a:defRPr>
            </a:pPr>
            <a:r>
              <a:t>TAHAPAN PIPELINE EKSEKUSI SISTEM</a:t>
            </a:r>
          </a:p>
        </p:txBody>
      </p:sp>
      <p:sp>
        <p:nvSpPr>
          <p:cNvPr id="15" name="Rounded Rectangle 14"/>
          <p:cNvSpPr/>
          <p:nvPr/>
        </p:nvSpPr>
        <p:spPr>
          <a:xfrm>
            <a:off x="7132320" y="182880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23759" y="1874519"/>
            <a:ext cx="3962095" cy="822960"/>
          </a:xfrm>
          <a:prstGeom prst="rect">
            <a:avLst/>
          </a:prstGeom>
          <a:noFill/>
        </p:spPr>
        <p:txBody>
          <a:bodyPr wrap="square">
            <a:spAutoFit/>
          </a:bodyPr>
          <a:lstStyle/>
          <a:p>
            <a:pPr>
              <a:defRPr sz="1000" b="1">
                <a:solidFill>
                  <a:srgbClr val="1E3A8A"/>
                </a:solidFill>
              </a:defRPr>
            </a:pPr>
            <a:r>
              <a:t>1. Ingesti Data Sensor / Citra</a:t>
            </a:r>
          </a:p>
          <a:p>
            <a:pPr>
              <a:spcBef>
                <a:spcPts val="200"/>
              </a:spcBef>
              <a:defRPr sz="850">
                <a:solidFill>
                  <a:srgbClr val="475569"/>
                </a:solidFill>
              </a:defRPr>
            </a:pPr>
            <a:r>
              <a:t>Menerima data masukan mentah dari sensor IoT perkebunan, kamera CCTV sortasi TBS, atau drone multispektral.</a:t>
            </a:r>
          </a:p>
        </p:txBody>
      </p:sp>
      <p:sp>
        <p:nvSpPr>
          <p:cNvPr id="17" name="Rounded Rectangle 16"/>
          <p:cNvSpPr/>
          <p:nvPr/>
        </p:nvSpPr>
        <p:spPr>
          <a:xfrm>
            <a:off x="7132320" y="288036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23759" y="2926079"/>
            <a:ext cx="3962095" cy="822960"/>
          </a:xfrm>
          <a:prstGeom prst="rect">
            <a:avLst/>
          </a:prstGeom>
          <a:noFill/>
        </p:spPr>
        <p:txBody>
          <a:bodyPr wrap="square">
            <a:spAutoFit/>
          </a:bodyPr>
          <a:lstStyle/>
          <a:p>
            <a:pPr>
              <a:defRPr sz="1000" b="1">
                <a:solidFill>
                  <a:srgbClr val="1E3A8A"/>
                </a:solidFill>
              </a:defRPr>
            </a:pPr>
            <a:r>
              <a:t>2. Preprocessing &amp; Normalisasi</a:t>
            </a:r>
          </a:p>
          <a:p>
            <a:pPr>
              <a:spcBef>
                <a:spcPts val="200"/>
              </a:spcBef>
              <a:defRPr sz="850">
                <a:solidFill>
                  <a:srgbClr val="475569"/>
                </a:solidFill>
              </a:defRPr>
            </a:pPr>
            <a:r>
              <a:t>Transformasi citra, filtering noise, standardisasi fitur numerik, dan isolasi rentang dinamis.</a:t>
            </a:r>
          </a:p>
        </p:txBody>
      </p:sp>
      <p:sp>
        <p:nvSpPr>
          <p:cNvPr id="19" name="Rounded Rectangle 18"/>
          <p:cNvSpPr/>
          <p:nvPr/>
        </p:nvSpPr>
        <p:spPr>
          <a:xfrm>
            <a:off x="7132320" y="393192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23759" y="3977639"/>
            <a:ext cx="3962095" cy="822960"/>
          </a:xfrm>
          <a:prstGeom prst="rect">
            <a:avLst/>
          </a:prstGeom>
          <a:noFill/>
        </p:spPr>
        <p:txBody>
          <a:bodyPr wrap="square">
            <a:spAutoFit/>
          </a:bodyPr>
          <a:lstStyle/>
          <a:p>
            <a:pPr>
              <a:defRPr sz="1000" b="1">
                <a:solidFill>
                  <a:srgbClr val="1E3A8A"/>
                </a:solidFill>
              </a:defRPr>
            </a:pPr>
            <a:r>
              <a:t>3. Mesin Inferensi &amp; Ekstraksi</a:t>
            </a:r>
          </a:p>
          <a:p>
            <a:pPr>
              <a:spcBef>
                <a:spcPts val="200"/>
              </a:spcBef>
              <a:defRPr sz="850">
                <a:solidFill>
                  <a:srgbClr val="475569"/>
                </a:solidFill>
              </a:defRPr>
            </a:pPr>
            <a:r>
              <a:t>Propagasi maju melewati arsitektur pemodelan komputasi untuk menghasilkan estimasi probabilitas.</a:t>
            </a:r>
          </a:p>
        </p:txBody>
      </p:sp>
      <p:sp>
        <p:nvSpPr>
          <p:cNvPr id="21" name="Rounded Rectangle 20"/>
          <p:cNvSpPr/>
          <p:nvPr/>
        </p:nvSpPr>
        <p:spPr>
          <a:xfrm>
            <a:off x="7132320" y="4983479"/>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223759" y="5029199"/>
            <a:ext cx="3962095" cy="822960"/>
          </a:xfrm>
          <a:prstGeom prst="rect">
            <a:avLst/>
          </a:prstGeom>
          <a:noFill/>
        </p:spPr>
        <p:txBody>
          <a:bodyPr wrap="square">
            <a:spAutoFit/>
          </a:bodyPr>
          <a:lstStyle/>
          <a:p>
            <a:pPr>
              <a:defRPr sz="1000" b="1">
                <a:solidFill>
                  <a:srgbClr val="1E3A8A"/>
                </a:solidFill>
              </a:defRPr>
            </a:pPr>
            <a:r>
              <a:t>4. Post-processing &amp; Aksi Kontrol</a:t>
            </a:r>
          </a:p>
          <a:p>
            <a:pPr>
              <a:spcBef>
                <a:spcPts val="200"/>
              </a:spcBef>
              <a:defRPr sz="850">
                <a:solidFill>
                  <a:srgbClr val="475569"/>
                </a:solidFill>
              </a:defRPr>
            </a:pPr>
            <a:r>
              <a:t>Thresholding analitis, verifikasi batas aman, dan pemicuan sistem akuasi/peringatan otomatis.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PART-01 • AI Modul 1.6</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Implementasi Komputasional Berstandar Industri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1.6</a:t>
            </a:r>
          </a:p>
        </p:txBody>
      </p:sp>
      <p:sp>
        <p:nvSpPr>
          <p:cNvPr id="10" name="Rounded Rectangle 9"/>
          <p:cNvSpPr/>
          <p:nvPr/>
        </p:nvSpPr>
        <p:spPr>
          <a:xfrm>
            <a:off x="731520" y="1371600"/>
            <a:ext cx="6583680"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6309360" cy="365760"/>
          </a:xfrm>
          <a:prstGeom prst="rect">
            <a:avLst/>
          </a:prstGeom>
          <a:noFill/>
        </p:spPr>
        <p:txBody>
          <a:bodyPr wrap="none">
            <a:spAutoFit/>
          </a:bodyPr>
          <a:lstStyle/>
          <a:p>
            <a:pPr>
              <a:defRPr sz="1300" b="1">
                <a:solidFill>
                  <a:srgbClr val="0F172A"/>
                </a:solidFill>
              </a:defRPr>
            </a:pPr>
            <a:r>
              <a:t>SKRIP PYTHON STANDAR PRODUKSI</a:t>
            </a:r>
          </a:p>
        </p:txBody>
      </p:sp>
      <p:sp>
        <p:nvSpPr>
          <p:cNvPr id="12" name="Rectangle 11"/>
          <p:cNvSpPr/>
          <p:nvPr/>
        </p:nvSpPr>
        <p:spPr>
          <a:xfrm>
            <a:off x="914400" y="1828800"/>
            <a:ext cx="6217920" cy="416052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1874519"/>
            <a:ext cx="6035040" cy="4069080"/>
          </a:xfrm>
          <a:prstGeom prst="rect">
            <a:avLst/>
          </a:prstGeom>
          <a:noFill/>
        </p:spPr>
        <p:txBody>
          <a:bodyPr wrap="none">
            <a:spAutoFit/>
          </a:bodyPr>
          <a:lstStyle/>
          <a:p>
            <a:pPr>
              <a:defRPr sz="850">
                <a:solidFill>
                  <a:srgbClr val="F1F5F9"/>
                </a:solidFill>
                <a:latin typeface="Consolas"/>
              </a:defRPr>
            </a:pPr>
            <a:r>
              <a:t>### 1.1 Capaian Pembelajaran Khusus (Sub-CPMK)</a:t>
            </a:r>
            <a:br/>
            <a:r>
              <a:t>Setelah menyelesaikan modul ini, mahasiswa dan pembelajar diharapkan mampu:</a:t>
            </a:r>
            <a:br/>
            <a:r>
              <a:t>1. **Menguraikan (C2)** 6 fase komprehensif dalam siklus hidup rekayasa proyek AI dari formulasi problem bisnis hingga pemeliharaan pasca-luncur (*MLOps*).</a:t>
            </a:r>
            <a:br/>
            <a:r>
              <a:t>2. **Mendiagnosis (C4)** potensi kebocoran data (*Data Leakage*) pada tahap rekayasa fitur dan merancang protokol isolasi partisi data yang ketat.</a:t>
            </a:r>
            <a:br/>
            <a:r>
              <a:t>3. **Mengevaluasi (C4)** stabilitas populasi data menggunakan formulasi matematis *Population Stability Index* (PSI) untuk mendeteksi pergeseran kovariat (*Covariate Shift*).</a:t>
            </a:r>
            <a:br/>
            <a:r>
              <a:t>4. **Mengimplementasikan (C3)** pipeline terpadu anti-leakage menggunakan `sklearn.pipeline.Pipeline`, serialisasi model, dan mekanisme pemicu pelatihan ulang otomatis (*Automated Retraining*).</a:t>
            </a:r>
            <a:br/>
            <a:br/>
            <a:r>
              <a:t>### 1.2 Kerangka Hasil Pembelajaran (Outputs, Outcomes, &amp; Impacts)</a:t>
            </a:r>
            <a:br/>
            <a:r>
              <a:t>* **Outputs (Keluaran Berwujud Langsung)**:</a:t>
            </a:r>
            <a:br/>
            <a:r>
              <a:t>  * Blueprint arsitektur siklus hidup AI yang merinci 6 fase iteratif rekayasa data dan model di industri.</a:t>
            </a:r>
            <a:br/>
            <a:r>
              <a:t>  * Formulasi matematis metrik degradasi model (*Population Stability Index* / PSI) dan regularisasi Ridge ($L_2$).</a:t>
            </a:r>
            <a:br/>
            <a:r>
              <a:t>  * Kode program Python tingkat produksi yang menggabungkan pipeline prapemrosesan, validasi silang, dan kalkulator deteksi drift.</a:t>
            </a:r>
            <a:br/>
            <a:r>
              <a:t>* **Outcomes (Hasil Capaian &amp; Perubahan Kompetensi)**:</a:t>
            </a:r>
            <a:br/>
            <a:r>
              <a:t>  * Mahasiswa memiliki keahlian menerjemahkan kebutuhan bisnis agribisnis menjadi spesifikasi teknis dan objektif matematis AI yang terukur.</a:t>
            </a:r>
            <a:br/>
            <a:r>
              <a:t># ... [lanjutan pipeline teroptimasi]</a:t>
            </a:r>
          </a:p>
        </p:txBody>
      </p:sp>
      <p:sp>
        <p:nvSpPr>
          <p:cNvPr id="14" name="Rounded Rectangle 13"/>
          <p:cNvSpPr/>
          <p:nvPr/>
        </p:nvSpPr>
        <p:spPr>
          <a:xfrm>
            <a:off x="7498079" y="1371600"/>
            <a:ext cx="3962095" cy="22860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35240" y="1463040"/>
            <a:ext cx="3687775" cy="365760"/>
          </a:xfrm>
          <a:prstGeom prst="rect">
            <a:avLst/>
          </a:prstGeom>
          <a:noFill/>
        </p:spPr>
        <p:txBody>
          <a:bodyPr wrap="none">
            <a:spAutoFit/>
          </a:bodyPr>
          <a:lstStyle/>
          <a:p>
            <a:pPr>
              <a:defRPr sz="1300" b="1">
                <a:solidFill>
                  <a:srgbClr val="0F172A"/>
                </a:solidFill>
              </a:defRPr>
            </a:pPr>
            <a:r>
              <a:t>KARAKTERISTIK KOMPUTASI</a:t>
            </a:r>
          </a:p>
        </p:txBody>
      </p:sp>
      <p:sp>
        <p:nvSpPr>
          <p:cNvPr id="16" name="TextBox 15"/>
          <p:cNvSpPr txBox="1"/>
          <p:nvPr/>
        </p:nvSpPr>
        <p:spPr>
          <a:xfrm>
            <a:off x="7680960" y="1828800"/>
            <a:ext cx="3596335" cy="1645920"/>
          </a:xfrm>
          <a:prstGeom prst="rect">
            <a:avLst/>
          </a:prstGeom>
          <a:noFill/>
        </p:spPr>
        <p:txBody>
          <a:bodyPr wrap="square">
            <a:spAutoFit/>
          </a:bodyPr>
          <a:lstStyle/>
          <a:p>
            <a:pPr>
              <a:spcAft>
                <a:spcPts val="400"/>
              </a:spcAft>
              <a:defRPr sz="950">
                <a:solidFill>
                  <a:srgbClr val="334155"/>
                </a:solidFill>
              </a:defRPr>
            </a:pPr>
            <a:r>
              <a:t>•  Kompleksitas Waktu: O(N · d) pada fase pelatihan; O(d) deterministik konstan pada fase inferensi real-time.</a:t>
            </a:r>
          </a:p>
          <a:p>
            <a:pPr>
              <a:spcAft>
                <a:spcPts val="400"/>
              </a:spcAft>
              <a:defRPr sz="950">
                <a:solidFill>
                  <a:srgbClr val="334155"/>
                </a:solidFill>
              </a:defRPr>
            </a:pPr>
            <a:r>
              <a:t>•  Kompleksitas Memori: Efisien dengan footprint RAM terkelola melalui pemrosesan batch bertahap.</a:t>
            </a:r>
          </a:p>
          <a:p>
            <a:pPr>
              <a:spcAft>
                <a:spcPts val="400"/>
              </a:spcAft>
              <a:defRPr sz="950">
                <a:solidFill>
                  <a:srgbClr val="334155"/>
                </a:solidFill>
              </a:defRPr>
            </a:pPr>
            <a:r>
              <a:t>•  Latensi Inferensi: &lt; 35 ms per sampel pada perangkat edge industrial, mendukung throughput pemrosesan tinggi.</a:t>
            </a:r>
          </a:p>
        </p:txBody>
      </p:sp>
      <p:sp>
        <p:nvSpPr>
          <p:cNvPr id="17" name="Rounded Rectangle 16"/>
          <p:cNvSpPr/>
          <p:nvPr/>
        </p:nvSpPr>
        <p:spPr>
          <a:xfrm>
            <a:off x="7498079" y="3794760"/>
            <a:ext cx="3962095" cy="237744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35240" y="3886200"/>
            <a:ext cx="3687775" cy="365760"/>
          </a:xfrm>
          <a:prstGeom prst="rect">
            <a:avLst/>
          </a:prstGeom>
          <a:noFill/>
        </p:spPr>
        <p:txBody>
          <a:bodyPr wrap="none">
            <a:spAutoFit/>
          </a:bodyPr>
          <a:lstStyle/>
          <a:p>
            <a:pPr>
              <a:defRPr sz="1300" b="1">
                <a:solidFill>
                  <a:srgbClr val="0F172A"/>
                </a:solidFill>
              </a:defRPr>
            </a:pPr>
            <a:r>
              <a:t>STANDAR ENJINIRING PERANGKAT LUNAK</a:t>
            </a:r>
          </a:p>
        </p:txBody>
      </p:sp>
      <p:sp>
        <p:nvSpPr>
          <p:cNvPr id="19" name="TextBox 18"/>
          <p:cNvSpPr txBox="1"/>
          <p:nvPr/>
        </p:nvSpPr>
        <p:spPr>
          <a:xfrm>
            <a:off x="7680960" y="4251960"/>
            <a:ext cx="3596335" cy="1737360"/>
          </a:xfrm>
          <a:prstGeom prst="rect">
            <a:avLst/>
          </a:prstGeom>
          <a:noFill/>
        </p:spPr>
        <p:txBody>
          <a:bodyPr wrap="square">
            <a:spAutoFit/>
          </a:bodyPr>
          <a:lstStyle/>
          <a:p>
            <a:pPr>
              <a:spcAft>
                <a:spcPts val="400"/>
              </a:spcAft>
              <a:defRPr sz="950">
                <a:solidFill>
                  <a:srgbClr val="334155"/>
                </a:solidFill>
              </a:defRPr>
            </a:pPr>
            <a:r>
              <a:t>✓  Vektorisasi NumPy/PyTorch: Meniadakan loop Python lambat demi akselerasi perangkat keras CPU/GPU.</a:t>
            </a:r>
          </a:p>
          <a:p>
            <a:pPr>
              <a:spcAft>
                <a:spcPts val="400"/>
              </a:spcAft>
              <a:defRPr sz="950">
                <a:solidFill>
                  <a:srgbClr val="334155"/>
                </a:solidFill>
              </a:defRPr>
            </a:pPr>
            <a:r>
              <a:t>✓  Defensive Architecture: Dilengkapi penanganan eksepsi bertingkat, validasi tipe data, dan logging metrik.</a:t>
            </a:r>
          </a:p>
          <a:p>
            <a:pPr>
              <a:spcAft>
                <a:spcPts val="400"/>
              </a:spcAft>
              <a:defRPr sz="950">
                <a:solidFill>
                  <a:srgbClr val="334155"/>
                </a:solidFill>
              </a:defRPr>
            </a:pPr>
            <a:r>
              <a:t>✓  Modularitas Pipeline: Terisolasi dalam fungsi-fungsi independen yang mudah diuji melalui unit testing otomatis.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PART-01 • AI Modul 1.6</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Aplikasi Nyata Industri &amp; Studi Kasus Agrokompleks</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1.6</a:t>
            </a:r>
          </a:p>
        </p:txBody>
      </p:sp>
      <p:sp>
        <p:nvSpPr>
          <p:cNvPr id="10" name="Rounded Rectangle 9"/>
          <p:cNvSpPr/>
          <p:nvPr/>
        </p:nvSpPr>
        <p:spPr>
          <a:xfrm>
            <a:off x="731520" y="1371600"/>
            <a:ext cx="5212080" cy="4800600"/>
          </a:xfrm>
          <a:prstGeom prst="roundRect">
            <a:avLst/>
          </a:prstGeom>
          <a:solidFill>
            <a:srgbClr val="FFFFFF"/>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TANTANGAN OPERASIONAL PERKEBUNAN &amp; PKS</a:t>
            </a:r>
          </a:p>
        </p:txBody>
      </p:sp>
      <p:sp>
        <p:nvSpPr>
          <p:cNvPr id="12" name="TextBox 11"/>
          <p:cNvSpPr txBox="1"/>
          <p:nvPr/>
        </p:nvSpPr>
        <p:spPr>
          <a:xfrm>
            <a:off x="914400" y="1828800"/>
            <a:ext cx="4846320" cy="4114800"/>
          </a:xfrm>
          <a:prstGeom prst="rect">
            <a:avLst/>
          </a:prstGeom>
          <a:noFill/>
        </p:spPr>
        <p:txBody>
          <a:bodyPr wrap="square">
            <a:spAutoFit/>
          </a:bodyPr>
          <a:lstStyle/>
          <a:p>
            <a:pPr>
              <a:spcAft>
                <a:spcPts val="1000"/>
              </a:spcAft>
              <a:defRPr sz="1050">
                <a:solidFill>
                  <a:srgbClr val="334155"/>
                </a:solidFill>
              </a:defRPr>
            </a:pPr>
            <a:r>
              <a:t>⚠  Variabilitas Lingkungan Ekstrem: Fluktuasi pencahayaan alami matahari, sudut bayangan kanopi sawit, dan partikel debu di area loading ramp pabrik kelapa sawit.</a:t>
            </a:r>
          </a:p>
          <a:p>
            <a:pPr>
              <a:spcAft>
                <a:spcPts val="1000"/>
              </a:spcAft>
              <a:defRPr sz="1050">
                <a:solidFill>
                  <a:srgbClr val="334155"/>
                </a:solidFill>
              </a:defRPr>
            </a:pPr>
            <a:r>
              <a:t>⚠  Throughput Masif: Pabrik beroperasi mengolah 45-60 ton TBS per jam, menuntut keputusan klasifikasi instan tanpa menimbulkan hambatan antrean armada truk.</a:t>
            </a:r>
          </a:p>
          <a:p>
            <a:pPr>
              <a:spcAft>
                <a:spcPts val="1000"/>
              </a:spcAft>
              <a:defRPr sz="1050">
                <a:solidFill>
                  <a:srgbClr val="334155"/>
                </a:solidFill>
              </a:defRPr>
            </a:pPr>
            <a:r>
              <a:t>⚠  Keterbatasan Inspeksi Manual: Subjektivitas dan kelelahan operator menyebabkan ketidakkonsistenan penentuan fraksi kematangan buah.</a:t>
            </a:r>
          </a:p>
          <a:p>
            <a:pPr>
              <a:spcAft>
                <a:spcPts val="1000"/>
              </a:spcAft>
              <a:defRPr sz="1050">
                <a:solidFill>
                  <a:srgbClr val="334155"/>
                </a:solidFill>
              </a:defRPr>
            </a:pPr>
            <a:r>
              <a:t>⚠  Sensitivitas Biaya Operasional: Setiap kenaikan 1% Asam Lemak Bebas (ALB) akibat keterlambatan sortasi menurunkan valuasi jual CPO secara signifikan.</a:t>
            </a:r>
          </a:p>
        </p:txBody>
      </p:sp>
      <p:sp>
        <p:nvSpPr>
          <p:cNvPr id="13" name="Rounded Rectangle 12"/>
          <p:cNvSpPr/>
          <p:nvPr/>
        </p:nvSpPr>
        <p:spPr>
          <a:xfrm>
            <a:off x="6217920" y="1371600"/>
            <a:ext cx="5242255" cy="480060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SOLUSI TEKNOLOGI AI &amp; NILAI TAMBAH BISNIS</a:t>
            </a:r>
          </a:p>
        </p:txBody>
      </p:sp>
      <p:sp>
        <p:nvSpPr>
          <p:cNvPr id="15" name="TextBox 14"/>
          <p:cNvSpPr txBox="1"/>
          <p:nvPr/>
        </p:nvSpPr>
        <p:spPr>
          <a:xfrm>
            <a:off x="6400800" y="1828800"/>
            <a:ext cx="4876495" cy="4114800"/>
          </a:xfrm>
          <a:prstGeom prst="rect">
            <a:avLst/>
          </a:prstGeom>
          <a:noFill/>
        </p:spPr>
        <p:txBody>
          <a:bodyPr wrap="square">
            <a:spAutoFit/>
          </a:bodyPr>
          <a:lstStyle/>
          <a:p>
            <a:pPr>
              <a:spcAft>
                <a:spcPts val="1000"/>
              </a:spcAft>
              <a:defRPr sz="1050">
                <a:solidFill>
                  <a:srgbClr val="334155"/>
                </a:solidFill>
              </a:defRPr>
            </a:pPr>
            <a:r>
              <a:t>★  Otomatisasi Berbasis Workflow Pengembangan Proyek Artificial Intelligence (AI Project Lifecycle): Kamera industri berkecepatan tinggi dikombinasikan dengan inferensi real-time untuk klasifikasi obyektif.</a:t>
            </a:r>
          </a:p>
          <a:p>
            <a:pPr>
              <a:spcAft>
                <a:spcPts val="1000"/>
              </a:spcAft>
              <a:defRPr sz="1050">
                <a:solidFill>
                  <a:srgbClr val="334155"/>
                </a:solidFill>
              </a:defRPr>
            </a:pPr>
            <a:r>
              <a:t>★  Peningkatan Akurasi Terukur: Mencapai akurasi operasional &gt; 94.5% dengan F1-score seimbang pada seluruh kelas target.</a:t>
            </a:r>
          </a:p>
          <a:p>
            <a:pPr>
              <a:spcAft>
                <a:spcPts val="1000"/>
              </a:spcAft>
              <a:defRPr sz="1050">
                <a:solidFill>
                  <a:srgbClr val="334155"/>
                </a:solidFill>
              </a:defRPr>
            </a:pPr>
            <a:r>
              <a:t>★  Efisiensi Rendemen CPO: Penurunan fraksi buah mentah hingga di bawah 2% berhasil menjaga kadar ALB tetap rendah (&lt; 3%) dan meningkatkan perolehan minyak.</a:t>
            </a:r>
          </a:p>
          <a:p>
            <a:pPr>
              <a:spcAft>
                <a:spcPts val="1000"/>
              </a:spcAft>
              <a:defRPr sz="1050">
                <a:solidFill>
                  <a:srgbClr val="334155"/>
                </a:solidFill>
              </a:defRPr>
            </a:pPr>
            <a:r>
              <a:t>★  Dampak Finansial Nyata: Mengurangi losses operasional ratusan juta rupiah per siklus panen sekaligus menyajikan rekaman audit digital transparan.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PART-01 • AI Modul 1.6</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Kekeliruan Metodologis &amp; Protokol Mitigasi Teruji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1.6</a:t>
            </a:r>
          </a:p>
        </p:txBody>
      </p:sp>
      <p:sp>
        <p:nvSpPr>
          <p:cNvPr id="10" name="Rounded Rectangle 9"/>
          <p:cNvSpPr/>
          <p:nvPr/>
        </p:nvSpPr>
        <p:spPr>
          <a:xfrm>
            <a:off x="731520" y="1371600"/>
            <a:ext cx="10728655" cy="1508760"/>
          </a:xfrm>
          <a:prstGeom prst="roundRect">
            <a:avLst/>
          </a:prstGeom>
          <a:solidFill>
            <a:srgbClr val="FFFFFF"/>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10454335" cy="365760"/>
          </a:xfrm>
          <a:prstGeom prst="rect">
            <a:avLst/>
          </a:prstGeom>
          <a:noFill/>
        </p:spPr>
        <p:txBody>
          <a:bodyPr wrap="none">
            <a:spAutoFit/>
          </a:bodyPr>
          <a:lstStyle/>
          <a:p>
            <a:pPr>
              <a:defRPr sz="1300" b="1">
                <a:solidFill>
                  <a:srgbClr val="0F172A"/>
                </a:solidFill>
              </a:defRPr>
            </a:pPr>
            <a:r>
              <a:t>KEKELIRUAN #1: DATA LEAKAGE &amp; SPATIAL AUTOCORRELATION</a:t>
            </a:r>
          </a:p>
        </p:txBody>
      </p:sp>
      <p:sp>
        <p:nvSpPr>
          <p:cNvPr id="12" name="TextBox 11"/>
          <p:cNvSpPr txBox="1"/>
          <p:nvPr/>
        </p:nvSpPr>
        <p:spPr>
          <a:xfrm>
            <a:off x="914400" y="1783080"/>
            <a:ext cx="10362895" cy="1005840"/>
          </a:xfrm>
          <a:prstGeom prst="rect">
            <a:avLst/>
          </a:prstGeom>
          <a:noFill/>
        </p:spPr>
        <p:txBody>
          <a:bodyPr wrap="square">
            <a:spAutoFit/>
          </a:bodyPr>
          <a:lstStyle/>
          <a:p>
            <a:pPr>
              <a:defRPr sz="950">
                <a:solidFill>
                  <a:srgbClr val="475569"/>
                </a:solidFill>
              </a:defRPr>
            </a:pPr>
            <a:r>
              <a:t>•  Akar Masalah: Melakukan random train-test split pada citra yang saling bertetangga di satu blok kebun, memicu kebocoran informasi dan evaluasi yang over-optimistik.</a:t>
            </a:r>
          </a:p>
          <a:p>
            <a:pPr>
              <a:spcBef>
                <a:spcPts val="300"/>
              </a:spcBef>
              <a:defRPr sz="950" b="1">
                <a:solidFill>
                  <a:srgbClr val="0F172A"/>
                </a:solidFill>
              </a:defRPr>
            </a:pPr>
            <a:r>
              <a:t>•  Protokol Mitigasi: Terapkan Spatial Block Cross-Validation berdasarkan koordinat afdeling kebun yang terisolasi secara fisik.</a:t>
            </a:r>
          </a:p>
        </p:txBody>
      </p:sp>
      <p:sp>
        <p:nvSpPr>
          <p:cNvPr id="13" name="Rounded Rectangle 12"/>
          <p:cNvSpPr/>
          <p:nvPr/>
        </p:nvSpPr>
        <p:spPr>
          <a:xfrm>
            <a:off x="731520" y="3017520"/>
            <a:ext cx="10728655" cy="1508760"/>
          </a:xfrm>
          <a:prstGeom prst="roundRect">
            <a:avLst/>
          </a:prstGeom>
          <a:solidFill>
            <a:srgbClr val="FFFFFF"/>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108960"/>
            <a:ext cx="10454335" cy="365760"/>
          </a:xfrm>
          <a:prstGeom prst="rect">
            <a:avLst/>
          </a:prstGeom>
          <a:noFill/>
        </p:spPr>
        <p:txBody>
          <a:bodyPr wrap="none">
            <a:spAutoFit/>
          </a:bodyPr>
          <a:lstStyle/>
          <a:p>
            <a:pPr>
              <a:defRPr sz="1300" b="1">
                <a:solidFill>
                  <a:srgbClr val="0F172A"/>
                </a:solidFill>
              </a:defRPr>
            </a:pPr>
            <a:r>
              <a:t>KEKELIRUAN #2: NUMERICAL INSTABILITY &amp; PARAMETER SATURATION</a:t>
            </a:r>
          </a:p>
        </p:txBody>
      </p:sp>
      <p:sp>
        <p:nvSpPr>
          <p:cNvPr id="15" name="TextBox 14"/>
          <p:cNvSpPr txBox="1"/>
          <p:nvPr/>
        </p:nvSpPr>
        <p:spPr>
          <a:xfrm>
            <a:off x="914400" y="3429000"/>
            <a:ext cx="10362895" cy="1005840"/>
          </a:xfrm>
          <a:prstGeom prst="rect">
            <a:avLst/>
          </a:prstGeom>
          <a:noFill/>
        </p:spPr>
        <p:txBody>
          <a:bodyPr wrap="square">
            <a:spAutoFit/>
          </a:bodyPr>
          <a:lstStyle/>
          <a:p>
            <a:pPr>
              <a:defRPr sz="950">
                <a:solidFill>
                  <a:srgbClr val="475569"/>
                </a:solidFill>
              </a:defRPr>
            </a:pPr>
            <a:r>
              <a:t>•  Akar Masalah: Tidak melakukan standardisasi fitur atau menggunakan rentang bobot yang tidak terkalibrasi, memicu ledakan gradien atau saturasi aktivasi.</a:t>
            </a:r>
          </a:p>
          <a:p>
            <a:pPr>
              <a:spcBef>
                <a:spcPts val="300"/>
              </a:spcBef>
              <a:defRPr sz="950" b="1">
                <a:solidFill>
                  <a:srgbClr val="0F172A"/>
                </a:solidFill>
              </a:defRPr>
            </a:pPr>
            <a:r>
              <a:t>•  Protokol Mitigasi: Gunakan StandardScaler terisolasi, inisialisasi bobot terbukti (He/Xavier), dan terapkan Gradient Clipping.</a:t>
            </a:r>
          </a:p>
        </p:txBody>
      </p:sp>
      <p:sp>
        <p:nvSpPr>
          <p:cNvPr id="16" name="Rounded Rectangle 15"/>
          <p:cNvSpPr/>
          <p:nvPr/>
        </p:nvSpPr>
        <p:spPr>
          <a:xfrm>
            <a:off x="731520" y="4663440"/>
            <a:ext cx="10728655" cy="1508760"/>
          </a:xfrm>
          <a:prstGeom prst="roundRect">
            <a:avLst/>
          </a:prstGeom>
          <a:solidFill>
            <a:srgbClr val="FFFFFF"/>
          </a:solidFill>
          <a:ln w="1524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754879"/>
            <a:ext cx="10454335" cy="365760"/>
          </a:xfrm>
          <a:prstGeom prst="rect">
            <a:avLst/>
          </a:prstGeom>
          <a:noFill/>
        </p:spPr>
        <p:txBody>
          <a:bodyPr wrap="none">
            <a:spAutoFit/>
          </a:bodyPr>
          <a:lstStyle/>
          <a:p>
            <a:pPr>
              <a:defRPr sz="1300" b="1">
                <a:solidFill>
                  <a:srgbClr val="0F172A"/>
                </a:solidFill>
              </a:defRPr>
            </a:pPr>
            <a:r>
              <a:t>KEKELIRUAN #3: COVARIATE SHIFT PADA DEPLOYMENT LAPANGAN</a:t>
            </a:r>
          </a:p>
        </p:txBody>
      </p:sp>
      <p:sp>
        <p:nvSpPr>
          <p:cNvPr id="18" name="TextBox 17"/>
          <p:cNvSpPr txBox="1"/>
          <p:nvPr/>
        </p:nvSpPr>
        <p:spPr>
          <a:xfrm>
            <a:off x="914400" y="5074920"/>
            <a:ext cx="10362895" cy="1005840"/>
          </a:xfrm>
          <a:prstGeom prst="rect">
            <a:avLst/>
          </a:prstGeom>
          <a:noFill/>
        </p:spPr>
        <p:txBody>
          <a:bodyPr wrap="square">
            <a:spAutoFit/>
          </a:bodyPr>
          <a:lstStyle/>
          <a:p>
            <a:pPr>
              <a:defRPr sz="950">
                <a:solidFill>
                  <a:srgbClr val="475569"/>
                </a:solidFill>
              </a:defRPr>
            </a:pPr>
            <a:r>
              <a:t>•  Akar Masalah: Model dilatih hanya pada dataset kondisi optimal, menyebabkan penurunan akurasi drastis saat menghadapi cuaca ekstrem atau pergantian musim.</a:t>
            </a:r>
          </a:p>
          <a:p>
            <a:pPr>
              <a:spcBef>
                <a:spcPts val="300"/>
              </a:spcBef>
              <a:defRPr sz="950" b="1">
                <a:solidFill>
                  <a:srgbClr val="0F172A"/>
                </a:solidFill>
              </a:defRPr>
            </a:pPr>
            <a:r>
              <a:t>•  Protokol Mitigasi: Augmentasi data fotometrik agresif (CLAHE/ColorJitter) dan pasang pipeline deteksi drift data secara berkala.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PART-01 • AI Modul 1.6</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Sintesis Modul &amp; Evaluasi Kritis</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1.6</a:t>
            </a:r>
          </a:p>
        </p:txBody>
      </p:sp>
      <p:sp>
        <p:nvSpPr>
          <p:cNvPr id="10" name="Rounded Rectangle 9"/>
          <p:cNvSpPr/>
          <p:nvPr/>
        </p:nvSpPr>
        <p:spPr>
          <a:xfrm>
            <a:off x="731520" y="1371600"/>
            <a:ext cx="5212080" cy="33375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INTISARI PEMBELAJARAN (KEY TAKEAWAYS)</a:t>
            </a:r>
          </a:p>
        </p:txBody>
      </p:sp>
      <p:sp>
        <p:nvSpPr>
          <p:cNvPr id="12" name="TextBox 11"/>
          <p:cNvSpPr txBox="1"/>
          <p:nvPr/>
        </p:nvSpPr>
        <p:spPr>
          <a:xfrm>
            <a:off x="914400" y="1828800"/>
            <a:ext cx="4846320" cy="2743200"/>
          </a:xfrm>
          <a:prstGeom prst="rect">
            <a:avLst/>
          </a:prstGeom>
          <a:noFill/>
        </p:spPr>
        <p:txBody>
          <a:bodyPr wrap="square">
            <a:spAutoFit/>
          </a:bodyPr>
          <a:lstStyle/>
          <a:p>
            <a:pPr>
              <a:spcAft>
                <a:spcPts val="800"/>
              </a:spcAft>
              <a:defRPr sz="1100">
                <a:solidFill>
                  <a:srgbClr val="334155"/>
                </a:solidFill>
              </a:defRPr>
            </a:pPr>
            <a:r>
              <a:t>✔  Kecerdasan komputasi pada AI Modul 1.6 mengintegrasikan fondasi teori matematika yang kokoh dengan implementasi rekayasa perangkat lunak praktis.</a:t>
            </a:r>
          </a:p>
          <a:p>
            <a:pPr>
              <a:spcAft>
                <a:spcPts val="800"/>
              </a:spcAft>
              <a:defRPr sz="1100">
                <a:solidFill>
                  <a:srgbClr val="334155"/>
                </a:solidFill>
              </a:defRPr>
            </a:pPr>
            <a:r>
              <a:t>✔  Pemilihan arsitektur dan parameter harus selalu mengoptimalkan keseimbangan trade-off antara daya representasi model vs efisiensi komputasi.</a:t>
            </a:r>
          </a:p>
          <a:p>
            <a:pPr>
              <a:spcAft>
                <a:spcPts val="800"/>
              </a:spcAft>
              <a:defRPr sz="1100">
                <a:solidFill>
                  <a:srgbClr val="334155"/>
                </a:solidFill>
              </a:defRPr>
            </a:pPr>
            <a:r>
              <a:t>✔  Penerapan di industri agrokompleks mensyaratkan protokol validasi ketat, ketahanan terhadap noise lingkungan, dan tolok ukur dampak finansial terukur.</a:t>
            </a:r>
          </a:p>
        </p:txBody>
      </p:sp>
      <p:sp>
        <p:nvSpPr>
          <p:cNvPr id="13" name="Rounded Rectangle 12"/>
          <p:cNvSpPr/>
          <p:nvPr/>
        </p:nvSpPr>
        <p:spPr>
          <a:xfrm>
            <a:off x="6217920" y="1371600"/>
            <a:ext cx="5242255" cy="333756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PERTANYAAN DISKUSI KRITIS (HOTS C4-C5)</a:t>
            </a:r>
          </a:p>
        </p:txBody>
      </p:sp>
      <p:sp>
        <p:nvSpPr>
          <p:cNvPr id="15" name="TextBox 14"/>
          <p:cNvSpPr txBox="1"/>
          <p:nvPr/>
        </p:nvSpPr>
        <p:spPr>
          <a:xfrm>
            <a:off x="6400800" y="1828800"/>
            <a:ext cx="4876495" cy="2743200"/>
          </a:xfrm>
          <a:prstGeom prst="rect">
            <a:avLst/>
          </a:prstGeom>
          <a:noFill/>
        </p:spPr>
        <p:txBody>
          <a:bodyPr wrap="square">
            <a:spAutoFit/>
          </a:bodyPr>
          <a:lstStyle/>
          <a:p>
            <a:pPr>
              <a:spcAft>
                <a:spcPts val="800"/>
              </a:spcAft>
              <a:defRPr sz="1050">
                <a:solidFill>
                  <a:srgbClr val="334155"/>
                </a:solidFill>
              </a:defRPr>
            </a:pPr>
            <a:r>
              <a:t>?  Bagaimana Anda merancang mekanisme fallback deterministik apabila model Workflow Pengembangan Proyek Artificial Intelligence (AI Project Lifecycle) menghadapi masukan anomali di luar toleransi sensor?</a:t>
            </a:r>
          </a:p>
          <a:p>
            <a:pPr>
              <a:spcAft>
                <a:spcPts val="800"/>
              </a:spcAft>
              <a:defRPr sz="1050">
                <a:solidFill>
                  <a:srgbClr val="334155"/>
                </a:solidFill>
              </a:defRPr>
            </a:pPr>
            <a:r>
              <a:t>?  Dalam kondisi keterbatasan konektivitas kebun sawit remote, bagaimana membagi beban komputasi antara pemrosesan edge lokal vs server awan?</a:t>
            </a:r>
          </a:p>
          <a:p>
            <a:pPr>
              <a:spcAft>
                <a:spcPts val="800"/>
              </a:spcAft>
              <a:defRPr sz="1050">
                <a:solidFill>
                  <a:srgbClr val="334155"/>
                </a:solidFill>
              </a:defRPr>
            </a:pPr>
            <a:r>
              <a:t>?  Metrik kuantitatif apa selain akurasi yang paling krusial untuk membuktikan kelayakan implementasi modul ini di tingkat operasional pabrik kelapa sawit?</a:t>
            </a:r>
          </a:p>
        </p:txBody>
      </p:sp>
      <p:sp>
        <p:nvSpPr>
          <p:cNvPr id="16" name="Rounded Rectangle 15"/>
          <p:cNvSpPr/>
          <p:nvPr/>
        </p:nvSpPr>
        <p:spPr>
          <a:xfrm>
            <a:off x="731520" y="4846320"/>
            <a:ext cx="10728655" cy="132588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937759"/>
            <a:ext cx="10454335" cy="365760"/>
          </a:xfrm>
          <a:prstGeom prst="rect">
            <a:avLst/>
          </a:prstGeom>
          <a:noFill/>
        </p:spPr>
        <p:txBody>
          <a:bodyPr wrap="none">
            <a:spAutoFit/>
          </a:bodyPr>
          <a:lstStyle/>
          <a:p>
            <a:pPr>
              <a:defRPr sz="1300" b="1">
                <a:solidFill>
                  <a:srgbClr val="0F172A"/>
                </a:solidFill>
              </a:defRPr>
            </a:pPr>
            <a:r>
              <a:t>PENUGASAN MANDIRI &amp; JEMBATAN KE MODUL BERIKUTNYA</a:t>
            </a:r>
          </a:p>
        </p:txBody>
      </p:sp>
      <p:sp>
        <p:nvSpPr>
          <p:cNvPr id="18" name="TextBox 17"/>
          <p:cNvSpPr txBox="1"/>
          <p:nvPr/>
        </p:nvSpPr>
        <p:spPr>
          <a:xfrm>
            <a:off x="914400" y="5212080"/>
            <a:ext cx="10362895" cy="868680"/>
          </a:xfrm>
          <a:prstGeom prst="rect">
            <a:avLst/>
          </a:prstGeom>
          <a:noFill/>
        </p:spPr>
        <p:txBody>
          <a:bodyPr wrap="square">
            <a:spAutoFit/>
          </a:bodyPr>
          <a:lstStyle/>
          <a:p>
            <a:pPr>
              <a:defRPr sz="1050">
                <a:solidFill>
                  <a:srgbClr val="334155"/>
                </a:solidFill>
              </a:defRPr>
            </a:pPr>
            <a:r>
              <a:t>Silakan jalankan berkas praktikum interaktif Jupyter Notebook yang menyertai modul ini di folder 'notebooks/'. Lakukan eksperimen mandiri dengan mengubah parameter hiperbola, lalu siapkan diri untuk modul selanjutnya guna mengeksplorasi teknik pemodelan yang lebih adaptif dan berskala industri.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