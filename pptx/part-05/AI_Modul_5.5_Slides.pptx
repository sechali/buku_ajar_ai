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5.5: Overfitting dan Underfitting dalam Machine Learning</a:t>
            </a:r>
          </a:p>
          <a:p>
            <a:pPr>
              <a:spcBef>
                <a:spcPts val="1200"/>
              </a:spcBef>
              <a:defRPr sz="1600">
                <a:solidFill>
                  <a:srgbClr val="94A3B8"/>
                </a:solidFill>
              </a:defRPr>
            </a:pPr>
            <a:r>
              <a:t>Bagian 5: Matematika dan Sains Data untuk AI</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5.5</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Mendekonstruksi (C4) dekomposisi bias-varians (Bias-Variance Trade-off) dan membuktikan pengaruh kapasitas model terhadap galat generalisasi.</a:t>
            </a:r>
          </a:p>
          <a:p>
            <a:pPr>
              <a:spcAft>
                <a:spcPts val="400"/>
              </a:spcAft>
              <a:defRPr sz="1100">
                <a:solidFill>
                  <a:srgbClr val="334155"/>
                </a:solidFill>
              </a:defRPr>
            </a:pPr>
            <a:r>
              <a:t>•  Mendiagnosis (C4) gejala Underfitting (bias tinggi) dan Overfitting (varians tinggi) melalui analisis visual kurva pembelajaran (Learning Curves).</a:t>
            </a:r>
          </a:p>
          <a:p>
            <a:pPr>
              <a:spcAft>
                <a:spcPts val="400"/>
              </a:spcAft>
              <a:defRPr sz="1100">
                <a:solidFill>
                  <a:srgbClr val="334155"/>
                </a:solidFill>
              </a:defRPr>
            </a:pPr>
            <a:r>
              <a:t>•  Menerapkan (C3) teknik mitigasi overfitting: penambahan data (Data Augmentation), penyederhanaan model, dan metode penghentian dini (Early Stopping).</a:t>
            </a:r>
          </a:p>
          <a:p>
            <a:pPr>
              <a:spcAft>
                <a:spcPts val="400"/>
              </a:spcAft>
              <a:defRPr sz="1100">
                <a:solidFill>
                  <a:srgbClr val="334155"/>
                </a:solidFill>
              </a:defRPr>
            </a:pPr>
            <a:r>
              <a:t>•  Mengevaluasi (C4) penerapan teknik regularisasi parameter (L_1 Lasso dan L_2 Ridge) untuk membatasi kompleksitas bobot model.</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5.5</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Overfitting dan Underfitting dalam Machine Learning.</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y = f(mathbfx) + epsilon,    mathbbE[epsilon] = 0,    Var(epsilon) = sigma^2</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Overfitting dan Underfitting dalam Machine Learning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5.5</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BIAS-VARIANCE TRADEOFF DAN KURVA KOMPLEKSITAS</a:t>
            </a:r>
          </a:p>
        </p:txBody>
      </p:sp>
      <p:pic>
        <p:nvPicPr>
          <p:cNvPr id="12" name="Picture 11" descr="bias_variance_tradeoff_dan_kurva_kompleksitas.png"/>
          <p:cNvPicPr>
            <a:picLocks noChangeAspect="1"/>
          </p:cNvPicPr>
          <p:nvPr/>
        </p:nvPicPr>
        <p:blipFill>
          <a:blip r:embed="rId2"/>
          <a:stretch>
            <a:fillRect/>
          </a:stretch>
        </p:blipFill>
        <p:spPr>
          <a:xfrm>
            <a:off x="914399" y="2342497"/>
            <a:ext cx="5669280" cy="3087404"/>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5.5</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**Mendekonstruksi (C4)** dekomposisi bias-varians (*Bias-Variance Trade-off*) dan membuktikan pengaruh kapasitas model terhadap galat generalisasi.</a:t>
            </a:r>
            <a:br/>
            <a:r>
              <a:t>2. **Mendiagnosis (C4)** gejala *Underfitting* (bias tinggi) dan *Overfitting* (varians tinggi) melalui analisis visual kurva pembelajaran (*Learning Curves*).</a:t>
            </a:r>
            <a:br/>
            <a:r>
              <a:t>3. **Menerapkan (C3)** teknik mitigasi overfitting: penambahan data (*Data Augmentation*), penyederhanaan model, dan metode penghentian dini (*Early Stopping*).</a:t>
            </a:r>
            <a:br/>
            <a:r>
              <a:t>4. **Mengevaluasi (C4)** penerapan teknik regularisasi parameter ($L_1$ Lasso dan $L_2$ Ridge) untuk membatasi kompleksitas bobot model.</a:t>
            </a:r>
            <a:br/>
            <a:br/>
            <a:r>
              <a:t>### 1.2 Kerangka Hasil Pembelajaran (Outputs, Outcomes, &amp; Impacts)</a:t>
            </a:r>
            <a:br/>
            <a:r>
              <a:t>* **Outputs (Keluaran Berwujud Langsung)**:</a:t>
            </a:r>
            <a:br/>
            <a:r>
              <a:t>  * Menurunkan secara matematis dekomposisi galat generalisasi menjadi komponen bias kuadrat, variansi, dan derau tak tereduksi (*irreducible error*).</a:t>
            </a:r>
            <a:br/>
            <a:r>
              <a:t>  * Mengidentifikasi karakteristik empiris dari kondisi *underfitting* (bias tinggi) dan *overfitting* (variansi tinggi) pada data pelatihan versus data validasi.</a:t>
            </a:r>
            <a:br/>
            <a:r>
              <a:t>  * Mengonstruksi dan menafsirkan grafik kurva pembelajaran (*learning curves*) terhadap variasi ukuran sampel data dan kapasitas model.</a:t>
            </a:r>
            <a:br/>
            <a:r>
              <a:t>  * Menerapkan teknik mitigasi matematis meliputi penalti regularisasi $\ell_1$ (Lasso), $\ell_2$ (Ridge), *Elastic Net*, serta pemangkasan pohon (*cost-complexity pruning*).</a:t>
            </a:r>
            <a:br/>
            <a:r>
              <a:t>* **Outcomes (Hasil Capaian &amp; Perubahan Kompetensi)**:</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5.5</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Overfitting dan Underfitting dalam Machine Learning: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5.5</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5.5</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5.5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Overfitting dan Underfitting dalam Machine Learning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