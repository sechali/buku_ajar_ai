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5.6: Proses Training Model dalam Machine Learning</a:t>
            </a:r>
          </a:p>
          <a:p>
            <a:pPr>
              <a:spcBef>
                <a:spcPts val="1200"/>
              </a:spcBef>
              <a:defRPr sz="1600">
                <a:solidFill>
                  <a:srgbClr val="94A3B8"/>
                </a:solidFill>
              </a:defRPr>
            </a:pPr>
            <a:r>
              <a:t>Bagian 5: Matematika dan Sains Data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5.6</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mekanisme optimasi berulang: kalkulasi gradien, arah penurunan tercuram (Steepest Descent), dan pembaruan bobot model.</a:t>
            </a:r>
          </a:p>
          <a:p>
            <a:pPr>
              <a:spcAft>
                <a:spcPts val="400"/>
              </a:spcAft>
              <a:defRPr sz="1100">
                <a:solidFill>
                  <a:srgbClr val="334155"/>
                </a:solidFill>
              </a:defRPr>
            </a:pPr>
            <a:r>
              <a:t>•  Menganalisis (C4) perbedaan varian algoritma optimasi: Batch Gradient Descent, Stochastic Gradient Descent (SGD), dan Mini-Batch SGD pada lanskap fungsi kerugian non-konveks.</a:t>
            </a:r>
          </a:p>
          <a:p>
            <a:pPr>
              <a:spcAft>
                <a:spcPts val="400"/>
              </a:spcAft>
              <a:defRPr sz="1100">
                <a:solidFill>
                  <a:srgbClr val="334155"/>
                </a:solidFill>
              </a:defRPr>
            </a:pPr>
            <a:r>
              <a:t>•  Menerapkan (C3) penjadwalan laju pembelajaran (Learning Rate Scheduling) dan momentum untuk mempercepat konvergensi menuju minimum global.</a:t>
            </a:r>
          </a:p>
          <a:p>
            <a:pPr>
              <a:spcAft>
                <a:spcPts val="400"/>
              </a:spcAft>
              <a:defRPr sz="1100">
                <a:solidFill>
                  <a:srgbClr val="334155"/>
                </a:solidFill>
              </a:defRPr>
            </a:pPr>
            <a:r>
              <a:t>•  Mendiagnosis (C4) patologi pelatihan: ledakan gradien (Exploding Gradients), hilangnya gradien (Vanishing Gradients), dan osilasi pada lembah sempit (Ravines).</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5.6</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Proses Training Model dalam Machine Learning.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J(boldsymboltheta) = frac1n sum_i=1^n mathcalLleft( y_i, f(mathbfx_i; boldsymbol</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Proses Training Model dalam Machine Learning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5.6</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LANSKAP OPTIMASI DAN GRADIEN DESCENT</a:t>
            </a:r>
          </a:p>
        </p:txBody>
      </p:sp>
      <p:pic>
        <p:nvPicPr>
          <p:cNvPr id="12" name="Picture 11" descr="lanskap_optimasi_dan_gradien_descent.png"/>
          <p:cNvPicPr>
            <a:picLocks noChangeAspect="1"/>
          </p:cNvPicPr>
          <p:nvPr/>
        </p:nvPicPr>
        <p:blipFill>
          <a:blip r:embed="rId2"/>
          <a:stretch>
            <a:fillRect/>
          </a:stretch>
        </p:blipFill>
        <p:spPr>
          <a:xfrm>
            <a:off x="914399" y="2007414"/>
            <a:ext cx="5669280" cy="375757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5.6</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mekanisme optimasi berulang: kalkulasi gradien, arah penurunan tercuram (*Steepest Descent*), dan pembaruan bobot model.</a:t>
            </a:r>
            <a:br/>
            <a:r>
              <a:t>2. **Menganalisis (C4)** perbedaan varian algoritma optimasi: *Batch Gradient Descent*, *Stochastic Gradient Descent* (SGD), dan *Mini-Batch SGD* pada lanskap fungsi kerugian non-konveks.</a:t>
            </a:r>
            <a:br/>
            <a:r>
              <a:t>3. **Menerapkan (C3)** penjadwalan laju pembelajaran (*Learning Rate Scheduling*) dan momentum untuk mempercepat konvergensi menuju minimum global.</a:t>
            </a:r>
            <a:br/>
            <a:r>
              <a:t>4. **Mendiagnosis (C4)** patologi pelatihan: ledakan gradien (*Exploding Gradients*), hilangnya gradien (*Vanishing Gradients*), dan osilasi pada lembah sempit (*Ravines*).</a:t>
            </a:r>
            <a:br/>
            <a:br/>
            <a:r>
              <a:t>### 1.2 Kerangka Hasil Pembelajaran (Outputs, Outcomes, &amp; Impacts)</a:t>
            </a:r>
            <a:br/>
            <a:r>
              <a:t>* **Outputs (Keluaran Berwujud Langsung)**:</a:t>
            </a:r>
            <a:br/>
            <a:r>
              <a:t>  * Memformulasikan proses pelatihan model secara matematis sebagai masalah optimasi pencarian parameter optimal $\boldsymbol{\theta}^* = \arg\min_{\boldsymbol{\theta}} J(\boldsymbol{\theta})$.</a:t>
            </a:r>
            <a:br/>
            <a:r>
              <a:t>  * Membedakan karakteristik matematis fungsi kerugian regresi (MSE, MAE, Huber Loss) dan fungsi kerugian klasifikasi (*Binary Cross-Entropy*, *Categorical Cross-Entropy*, *Hinge Loss*).</a:t>
            </a:r>
            <a:br/>
            <a:r>
              <a:t>  * Menurunkan aturan pembaruan parameter (*parameter update rule*) berbasis vektor gradien $\nabla_{\boldsymbol{\theta}} J(\boldsymbol{\theta})$.</a:t>
            </a:r>
            <a:br/>
            <a:r>
              <a:t>  * Mengidentifikasi kelebihan, keterbatasan, dan kompromi komputasi antara *Batch Gradient Descent* (BGD), *Stochastic Gradient Descent* (SGD), dan *Mini-Batch Gradient Descent* (MBGD).</a:t>
            </a:r>
            <a:br/>
            <a:r>
              <a:t>* **Outcomes (Hasil Capaian &amp; Perubahan Kompetensi)**: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5.6</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Proses Training Model dalam Machine Learning: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5.6</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5.6</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5.6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Proses Training Model dalam Machine Learning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