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3.1: Pengenalan Bahasa Python</a:t>
            </a:r>
          </a:p>
          <a:p>
            <a:pPr>
              <a:spcBef>
                <a:spcPts val="1200"/>
              </a:spcBef>
              <a:defRPr sz="1600">
                <a:solidFill>
                  <a:srgbClr val="94A3B8"/>
                </a:solidFill>
              </a:defRPr>
            </a:pPr>
            <a:r>
              <a:t>Bagian 3: Struktur Data dan Bahasa Python untuk AI</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3.1</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Menguraikan (C2) filosofi desain Python (The Zen of Python / PEP 20) dan posisinya sebagai lingua franca ekosistem AI dunia.</a:t>
            </a:r>
          </a:p>
          <a:p>
            <a:pPr>
              <a:spcAft>
                <a:spcPts val="400"/>
              </a:spcAft>
              <a:defRPr sz="1100">
                <a:solidFill>
                  <a:srgbClr val="334155"/>
                </a:solidFill>
              </a:defRPr>
            </a:pPr>
            <a:r>
              <a:t>•  Menganalisis (C4) perbedaan arsitektural antara bahasa terkompilasi (C/C++) dan bahasa terinterpretasi (CPython Bytecode &amp; Virtual Machine).</a:t>
            </a:r>
          </a:p>
          <a:p>
            <a:pPr>
              <a:spcAft>
                <a:spcPts val="400"/>
              </a:spcAft>
              <a:defRPr sz="1100">
                <a:solidFill>
                  <a:srgbClr val="334155"/>
                </a:solidFill>
              </a:defRPr>
            </a:pPr>
            <a:r>
              <a:t>•  Mengevaluasi (C4) implikasi Global Interpreter Lock (GIL) dan manajemen memori otomatis (Reference Counting &amp; Garbage Collection) pada kinerja komputasi AI.</a:t>
            </a:r>
          </a:p>
          <a:p>
            <a:pPr>
              <a:spcAft>
                <a:spcPts val="400"/>
              </a:spcAft>
              <a:defRPr sz="1100">
                <a:solidFill>
                  <a:srgbClr val="334155"/>
                </a:solidFill>
              </a:defRPr>
            </a:pPr>
            <a:r>
              <a:t>•  Menjalankan (C3) skrip Python dasar dalam mode interaktif REPL dan mode eksekusi berkas terstruktur.</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3.1</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Pengenalan Bahasa Python.</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f(x; theta) = sigma(W cdot x + b)    dengan    min_theta mathcalL(theta) = frac1</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Pengenalan Bahasa Python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3.1</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ARSITEKTUR EKSEKUSI CPYTHON</a:t>
            </a:r>
          </a:p>
        </p:txBody>
      </p:sp>
      <p:pic>
        <p:nvPicPr>
          <p:cNvPr id="12" name="Picture 11" descr="arsitektur_eksekusi_cpython.png"/>
          <p:cNvPicPr>
            <a:picLocks noChangeAspect="1"/>
          </p:cNvPicPr>
          <p:nvPr/>
        </p:nvPicPr>
        <p:blipFill>
          <a:blip r:embed="rId2"/>
          <a:stretch>
            <a:fillRect/>
          </a:stretch>
        </p:blipFill>
        <p:spPr>
          <a:xfrm>
            <a:off x="914399" y="2340032"/>
            <a:ext cx="5669280" cy="3092334"/>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3.1</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**Menguraikan (C2)** filosofi desain Python (*The Zen of Python* / PEP 20) dan posisinya sebagai lingua franca ekosistem AI dunia.</a:t>
            </a:r>
            <a:br/>
            <a:r>
              <a:t>2. **Menganalisis (C4)** perbedaan arsitektural antara bahasa terkompilasi (C/C++) dan bahasa terinterpretasi (CPython Bytecode &amp; Virtual Machine).</a:t>
            </a:r>
            <a:br/>
            <a:r>
              <a:t>3. **Mengevaluasi (C4)** implikasi *Global Interpreter Lock* (GIL) dan manajemen memori otomatis (*Reference Counting &amp; Garbage Collection*) pada kinerja komputasi AI.</a:t>
            </a:r>
            <a:br/>
            <a:r>
              <a:t>4. **Menjalankan (C3)** skrip Python dasar dalam mode interaktif REPL dan mode eksekusi berkas terstruktur.</a:t>
            </a:r>
            <a:br/>
            <a:br/>
            <a:r>
              <a:t>### 1.2 Kerangka Hasil Pembelajaran (Outputs, Outcomes, &amp; Impacts)</a:t>
            </a:r>
            <a:br/>
            <a:r>
              <a:t>* **Outputs (Keluaran Berwujud Langsung)**:</a:t>
            </a:r>
            <a:br/>
            <a:r>
              <a:t>  * Mahasiswa menghasilkan skrip Python standar (PEP 8 &amp; PEP 484) yang mengaudit spesifikasi interpreter aktif, menginspeksi alur eksekusi bytecode menggunakan modul bawaan `dis`, serta mengevaluasi status konfigurasi sistem operasi.</a:t>
            </a:r>
            <a:br/>
            <a:r>
              <a:t>  * Mahasiswa menyusun tabel matriks komparasi analitis yang membedah keunggulan, batasan, dan efisiensi memori antara paradigma kompilasi murni (*Ahead-Of-Time / AOT*), mesin virtual bytecode (*CPython PVM*), dan kompilasi tepat-waktu (*Just-In-Time / JIT*).</a:t>
            </a:r>
            <a:br/>
            <a:r>
              <a:t>  * Mahasiswa mengonstruksi modul diagnostik pengujian fungsionalitas ekosistem saintifik dasar yang mengukur waktu latensi komputasi numerik pada pemrosesan aliran telemetri iklim mikro perkebunan kelapa sawit.</a:t>
            </a:r>
            <a:br/>
            <a:r>
              <a:t>* **Outcomes (Hasil Capaian &amp; Perubahan Kompetensi)**:</a:t>
            </a:r>
            <a:br/>
            <a:r>
              <a:t>  * Mahasiswa menguasai dan mampu menerapkan 19 prinsip filosofis *The Zen of Python* (PEP 20) dalam perancangan kode program yang bersih, modular, elegan, dan mudah dipelihara (*maintainable*).</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3.1</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Pengenalan Bahasa Python: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3.1</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3.1</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3.1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Pengenalan Bahasa Python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