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3.10: Penggunaan Package Manager (pip) dan Ekosistem Pustaka AI</a:t>
            </a:r>
          </a:p>
          <a:p>
            <a:pPr>
              <a:spcBef>
                <a:spcPts val="1200"/>
              </a:spcBef>
              <a:defRPr sz="1600">
                <a:solidFill>
                  <a:srgbClr val="94A3B8"/>
                </a:solidFill>
              </a:defRPr>
            </a:pPr>
            <a:r>
              <a:t>Bagian 3: Struktur Data dan Bahasa Python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3.10</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Mengidentifikasi (C2) ekosistem repositori Python Package Index (PyPI) dan arsitektur pengelola paket `pip`.</a:t>
            </a:r>
          </a:p>
          <a:p>
            <a:pPr>
              <a:spcAft>
                <a:spcPts val="400"/>
              </a:spcAft>
              <a:defRPr sz="1100">
                <a:solidFill>
                  <a:srgbClr val="334155"/>
                </a:solidFill>
              </a:defRPr>
            </a:pPr>
            <a:r>
              <a:t>•  Menerapkan (C3) manajemen dependensi proyek yang dapat direproduksi (reproducible environments) menggunakan berkas `requirements.txt` dan `pip freeze`.</a:t>
            </a:r>
          </a:p>
          <a:p>
            <a:pPr>
              <a:spcAft>
                <a:spcPts val="400"/>
              </a:spcAft>
              <a:defRPr sz="1100">
                <a:solidFill>
                  <a:srgbClr val="334155"/>
                </a:solidFill>
              </a:defRPr>
            </a:pPr>
            <a:r>
              <a:t>•  Menganalisis (C4) perbedaan distribusi paket kode sumber (sdist) versus distribusi biner terkompilasi (wheel / `.whl`).</a:t>
            </a:r>
          </a:p>
          <a:p>
            <a:pPr>
              <a:spcAft>
                <a:spcPts val="400"/>
              </a:spcAft>
              <a:defRPr sz="1100">
                <a:solidFill>
                  <a:srgbClr val="334155"/>
                </a:solidFill>
              </a:defRPr>
            </a:pPr>
            <a:r>
              <a:t>•  Mengevaluasi (C4) kerentanan keamanan pustaka pihak ketiga dan teknik isolasi lingkungan proyek AI produksi.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3.10</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Penggunaan Package Manager (pip) dan Ekosistem Pustaka AI.</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f(x; theta) = sigma(W cdot x + b)    dengan    min_theta mathcalL(theta) = frac1</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Penggunaan Package Manager (pip) dan Ekosistem Pustaka AI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3.10</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MANAJEMEN DEPENDENSI PIP DAN ALUR </a:t>
            </a:r>
          </a:p>
        </p:txBody>
      </p:sp>
      <p:pic>
        <p:nvPicPr>
          <p:cNvPr id="12" name="Picture 11" descr="arsitektur_manajemen_dependensi_pip_ai.png"/>
          <p:cNvPicPr>
            <a:picLocks noChangeAspect="1"/>
          </p:cNvPicPr>
          <p:nvPr/>
        </p:nvPicPr>
        <p:blipFill>
          <a:blip r:embed="rId2"/>
          <a:stretch>
            <a:fillRect/>
          </a:stretch>
        </p:blipFill>
        <p:spPr>
          <a:xfrm>
            <a:off x="914399" y="2351853"/>
            <a:ext cx="5669280" cy="3068692"/>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3.10</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a:t>
            </a:r>
            <a:br/>
            <a:br/>
            <a:r>
              <a:t>## 6. Pembahasan Keterangan Penggunaan Kode (Operational Breakdown)</a:t>
            </a:r>
            <a:br/>
            <a:br/>
            <a:r>
              <a:t>Dekonstruksi fungsional atas sistem audit dependensi dan benchmark komputasi di atas:</a:t>
            </a:r>
            <a:br/>
            <a:br/>
            <a:r>
              <a:t>1. **Inspeksi Metadata Terstandarisasi via `importlib.metadata` (Baris 24–42):**  </a:t>
            </a:r>
            <a:br/>
            <a:r>
              <a:t>   Skrip menggunakan modul bawaan Python 3.8+ `importlib.metadata.version()`. Pendekatan ini jauh lebih bersih dan ringan dibanding mengeksekusi subproses terminal `pip list` atau mengimpor pustaka secara langsung (`import numpy`), karena ia hanya membaca berkas teks metadata `METADATA` di dalam folder `.dist-info` tanpa memuat seluruh pustaka ke memori RAM.</a:t>
            </a:r>
            <a:br/>
            <a:r>
              <a:t>2. **Pola Vektorisasi SIMD pada Formula NDVI (Baris 97–99):**  </a:t>
            </a:r>
            <a:br/>
            <a:r>
              <a:t>   Pernyataan `ndvi_numpy_vektor = (nir_np - red_np) / (nir_np + red_np)` tidak mengeksekusi satu baris perulangan pun di tingkat interpreter CPython. Di balik layar, NumPy memetakan operasi pengurangan, penjumlahan, dan pembagian ke instruksi perangkat keras tingkat prosesor (seperti AVX2 / AVX-512). Prosesor mengeksekusi operasi tersebut secara paralel pada delapan atau enam belas bilangan pecahan ganda (*double-precision floats*) sekaligus dalam satu siklus detak CPU (*clock cycle*).</a:t>
            </a:r>
            <a:br/>
            <a:r>
              <a:t>3. **Penyebab Ketertinggalan Perulangan List Python (Baris 89–93):**  </a:t>
            </a:r>
            <a:br/>
            <a:r>
              <a:t>   Konstruksi `zip(nir_list, red_list)` pada perulangan Python murni melibatkan pembuatan objek tuple sementara, dereferensi pointer `PyObject` secara berulang, pencarian tipe dinamis (*dynamic type dispatch*), dan alokasi objek float baru untuk setiap satu juta piksel. Hal ini menimbulkan *overhead* memori dan latensi cache yang sangat tinggi.</a:t>
            </a:r>
            <a:br/>
            <a:br/>
            <a:r>
              <a:t>---</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3.10</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Penggunaan Package Manager (pip) dan Ekosistem Pustaka AI: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3.10</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3.10</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3.10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Penggunaan Package Manager (pip) dan Ekosistem Pustaka AI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