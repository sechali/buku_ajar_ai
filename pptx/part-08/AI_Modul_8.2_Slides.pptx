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8.2: Training Model</a:t>
            </a:r>
          </a:p>
          <a:p>
            <a:pPr>
              <a:spcBef>
                <a:spcPts val="1200"/>
              </a:spcBef>
              <a:defRPr sz="1600">
                <a:solidFill>
                  <a:srgbClr val="94A3B8"/>
                </a:solidFill>
              </a:defRPr>
            </a:pPr>
            <a:r>
              <a:t>Bagian 8: Unsupervised Learning dan Reduksi Dimensi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Sub-CPMK 8.2.1 (C2): Menguraikan tahapan komputasi dalam siklus pelatihan (training loop) kelas industri, membedah perbedaan mekanisme propagasi antara mode `model.train()` dan `model.eval()`, serta menjelaskan formulasi matematis pemotongan gradien (gradient clipping) dan penjadwalan laju pembelajaran (learning rate scheduling).</a:t>
            </a:r>
          </a:p>
          <a:p>
            <a:pPr>
              <a:spcAft>
                <a:spcPts val="400"/>
              </a:spcAft>
              <a:defRPr sz="1100">
                <a:solidFill>
                  <a:srgbClr val="334155"/>
                </a:solidFill>
              </a:defRPr>
            </a:pPr>
            <a:r>
              <a:t>•  Sub-CPMK 8.2.2 (C3): Membangun skrip alur pelatihan (training pipeline) profesional menggunakan PyTorch yang mengintegrasikan generator mini-batch `DataLoader`, optimasi Adam, pemotongan gradien global, penjadwal adaptif `ReduceLROnPlateau`, dan pencadangan bobot terbaik (Model Checkpointing).</a:t>
            </a:r>
          </a:p>
          <a:p>
            <a:pPr>
              <a:spcAft>
                <a:spcPts val="400"/>
              </a:spcAft>
              <a:defRPr sz="1100">
                <a:solidFill>
                  <a:srgbClr val="334155"/>
                </a:solidFill>
              </a:defRPr>
            </a:pPr>
            <a:r>
              <a:t>•  Sub-CPMK 8.2.3 (C4): Mendiagnosis gejala ledakan gradien (gradient exploding), osilasi liar pada dataran semu (plateau), serta merumuskan strategi penalaan hiperparameter pelatihan adaptif guna menghasilkan bobot model tergeneralisasi tinggi pada kasus data terpadu agrokompleks.</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Training Model.</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sum_t=1^infty eta_t = infty    dan    sum_t=1^infty eta_t^2 &lt; infty</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Training Model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TRAINING PIPELINE DAN CHECKPOINTIN</a:t>
            </a:r>
          </a:p>
        </p:txBody>
      </p:sp>
      <p:pic>
        <p:nvPicPr>
          <p:cNvPr id="12" name="Picture 11" descr="arsitektur_training_pipeline_dan_checkpointing_deep_learning.png"/>
          <p:cNvPicPr>
            <a:picLocks noChangeAspect="1"/>
          </p:cNvPicPr>
          <p:nvPr/>
        </p:nvPicPr>
        <p:blipFill>
          <a:blip r:embed="rId2"/>
          <a:stretch>
            <a:fillRect/>
          </a:stretch>
        </p:blipFill>
        <p:spPr>
          <a:xfrm>
            <a:off x="914399" y="2361687"/>
            <a:ext cx="5669280" cy="3049024"/>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pembelajaran ini secara tuntas, mahasiswa diharapkan memiliki kapabilitas untuk:</a:t>
            </a:r>
            <a:br/>
            <a:r>
              <a:t>1. **Sub-CPMK 8.2.1 (C2):** Menguraikan tahapan komputasi dalam siklus pelatihan (*training loop*) kelas industri, membedah perbedaan mekanisme propagasi antara mode `model.train()` dan `model.eval()`, serta menjelaskan formulasi matematis pemotongan gradien (*gradient clipping*) dan penjadwalan laju pembelajaran (*learning rate scheduling*).</a:t>
            </a:r>
            <a:br/>
            <a:r>
              <a:t>2. **Sub-CPMK 8.2.2 (C3):** Membangun skrip alur pelatihan (*training pipeline*) profesional menggunakan PyTorch yang mengintegrasikan generator mini-batch `DataLoader`, optimasi Adam, pemotongan gradien global, penjadwal adaptif `ReduceLROnPlateau`, dan pencadangan bobot terbaik (*Model Checkpointing*).</a:t>
            </a:r>
            <a:br/>
            <a:r>
              <a:t>3. **Sub-CPMK 8.2.3 (C4):** Mendiagnosis gejala ledakan gradien (*gradient exploding*), osilasi liar pada dataran semu (*plateau*), serta merumuskan strategi penalaan hiperparameter pelatihan adaptif guna menghasilkan bobot model tergeneralisasi tinggi pada kasus data terpadu agrokompleks.</a:t>
            </a:r>
            <a:br/>
            <a:br/>
            <a:r>
              <a:t>### 1.2 Kerangka Hasil Pembelajaran (Outputs, Outcomes, &amp; Impacts)</a:t>
            </a:r>
            <a:br/>
            <a:r>
              <a:t>- **Luaran Langsung (*Outputs*):** Skrip alur pelatihan modular PyTorch berstandar industri, modul *training loop* dengan fungsi pencadangan model otomatis (`.pt`), serta visualisasi dinamika norma gradien dan *learning rate decay*.</a:t>
            </a:r>
            <a:br/>
            <a:r>
              <a:t>- **Dampak Pembelajaran (*Outcomes*):** Mahasiswa memiliki kemahiran rekayasa perangkat lunak dalam melatih model jaringan saraf tiruan secara stabil, disiplin memisahkan fase pelatihan dan validasi, serta kebal terhadap kegagalan numerik.</a:t>
            </a:r>
            <a:br/>
            <a:r>
              <a:t>- **Implikasi Jangka Panjang (*Impacts*):** Terwujudnya sistem komputasi pelatihan model AI perkebunan yang terstandar, dapat direproduksi (*reproducible*), dan siap diotomatisasi pada kluster server komputasi berkinerja tinggi (*High-Performance Computing* / GPU Cloud).</a:t>
            </a:r>
            <a:br/>
            <a:br/>
            <a:r>
              <a:t>---</a:t>
            </a:r>
            <a:br/>
            <a:br/>
            <a:r>
              <a:t>## 2. Profil Fundamental Training Model: Fungsi, Manfaat, dan Keunggulan-Kelemahan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Training Model: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8.2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Training Model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