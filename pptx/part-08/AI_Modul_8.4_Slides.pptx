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8.4: Interpretasi Hasil Model</a:t>
            </a:r>
          </a:p>
          <a:p>
            <a:pPr>
              <a:spcBef>
                <a:spcPts val="1200"/>
              </a:spcBef>
              <a:defRPr sz="1600">
                <a:solidFill>
                  <a:srgbClr val="94A3B8"/>
                </a:solidFill>
              </a:defRPr>
            </a:pPr>
            <a:r>
              <a:t>Bagian 8: Unsupervised Learning dan Reduksi Dimensi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8.4</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Sub-CPMK 8.4.1 (C2): Menguraikan urgensi transparansi model (Explainable AI / XAI) dalam domain agrokompleks, konsep atribusi fitur (feature attribution), serta membedakan metode model-agnostic (Permutation Feature Importance) dengan metode model-specific berbasis gradien (Vanilla Saliency Maps dan Integrated Gradients).</a:t>
            </a:r>
          </a:p>
          <a:p>
            <a:pPr>
              <a:spcAft>
                <a:spcPts val="400"/>
              </a:spcAft>
              <a:defRPr sz="1100">
                <a:solidFill>
                  <a:srgbClr val="334155"/>
                </a:solidFill>
              </a:defRPr>
            </a:pPr>
            <a:r>
              <a:t>•  Sub-CPMK 8.4.2 (C3): Mengimplementasikan algoritma penghitungan atribusi fitur berbasis gradien PyTorch dan ekstraksi vektor representasi laten lapisan tersembunyi untuk diproyeksikan secara visual menggunakan teknik reduksi dimensi non-linier t-SNE.</a:t>
            </a:r>
          </a:p>
          <a:p>
            <a:pPr>
              <a:spcAft>
                <a:spcPts val="400"/>
              </a:spcAft>
              <a:defRPr sz="1100">
                <a:solidFill>
                  <a:srgbClr val="334155"/>
                </a:solidFill>
              </a:defRPr>
            </a:pPr>
            <a:r>
              <a:t>•  Sub-CPMK 8.4.3 (C4): Mendiagnosis keselarasan biologis (agronomic sanity check) antara fitur berbobot atribusi tinggi yang diprioritaskan oleh jaringan saraf tiruan dengan teori fisiologi tanaman kelapa sawit (misalnya pita serapan pigmen klorofil red-edge dan serapan air).</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8.4</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Interpretasi Hasil Model.</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S_j(mathbfx) = left| fracpartial f(mathbfx)partial x_j right|</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Interpretasi Hasil Model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8.4</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XAI DAN SALIENCY SPEKTRAL AGROKOMP</a:t>
            </a:r>
          </a:p>
        </p:txBody>
      </p:sp>
      <p:pic>
        <p:nvPicPr>
          <p:cNvPr id="12" name="Picture 11" descr="arsitektur_xai_dan_saliency_spektral_agrokompleks.png"/>
          <p:cNvPicPr>
            <a:picLocks noChangeAspect="1"/>
          </p:cNvPicPr>
          <p:nvPr/>
        </p:nvPicPr>
        <p:blipFill>
          <a:blip r:embed="rId2"/>
          <a:stretch>
            <a:fillRect/>
          </a:stretch>
        </p:blipFill>
        <p:spPr>
          <a:xfrm>
            <a:off x="914399" y="2260127"/>
            <a:ext cx="5669280" cy="3252145"/>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8.4</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pembelajaran ini secara tuntas, mahasiswa diharapkan memiliki kapabilitas untuk:</a:t>
            </a:r>
            <a:br/>
            <a:r>
              <a:t>1. **Sub-CPMK 8.4.1 (C2):** Menguraikan urgensi transparansi model (*Explainable AI* / XAI) dalam domain agrokompleks, konsep atribusi fitur (*feature attribution*), serta membedakan metode model-agnostic (*Permutation Feature Importance*) dengan metode model-specific berbasis gradien (*Vanilla Saliency Maps* dan *Integrated Gradients*).</a:t>
            </a:r>
            <a:br/>
            <a:r>
              <a:t>2. **Sub-CPMK 8.4.2 (C3):** Mengimplementasikan algoritma penghitungan atribusi fitur berbasis gradien PyTorch dan ekstraksi vektor representasi laten lapisan tersembunyi untuk diproyeksikan secara visual menggunakan teknik reduksi dimensi non-linier t-SNE.</a:t>
            </a:r>
            <a:br/>
            <a:r>
              <a:t>3. **Sub-CPMK 8.4.3 (C4):** Mendiagnosis keselarasan biologis (*agronomic sanity check*) antara fitur berbobot atribusi tinggi yang diprioritaskan oleh jaringan saraf tiruan dengan teori fisiologi tanaman kelapa sawit (misalnya pita serapan pigmen klorofil *red-edge* dan serapan air).</a:t>
            </a:r>
            <a:br/>
            <a:br/>
            <a:r>
              <a:t>### 1.2 Kerangka Hasil Pembelajaran (Outputs, Outcomes, &amp; Impacts)</a:t>
            </a:r>
            <a:br/>
            <a:r>
              <a:t>- **Luaran Langsung (*Outputs*):** Skrip modul Python implementasi XAI berbasis PyTorch, grafik batang ranking fitur PFI, profil kontur sensitivitas spektral, serta visualisasi klaster ruang laten t-SNE.</a:t>
            </a:r>
            <a:br/>
            <a:r>
              <a:t>- **Dampak Pembelajaran (*Outcomes*):** Mahasiswa memiliki kemahiran dalam membongkar sifat "kotak hitam" jaringan saraf tiruan, menjembatani bahasa komputasi tensor dengan bahasa fisiologi agronomi para praktisi kebun.</a:t>
            </a:r>
            <a:br/>
            <a:r>
              <a:t>- **Implikasi Jangka Panjang (*Impacts*):** Meningkatnya kepercayaan (*trust*) manajemen perkebunan dan instansi sertifikasi terhadap adopsi sistem kecerdasan buatan, memastikan keputusan pemupukan dan panen didasarkan pada landasan ilmiah yang transparan dan dapat dipertanggungjawabkan.</a:t>
            </a:r>
            <a:br/>
            <a:br/>
            <a:r>
              <a:t>---</a:t>
            </a:r>
            <a:br/>
            <a:br/>
            <a:r>
              <a:t>## 2. Profil Fundamental Interpretasi Hasil Model: Fungsi, Manfaat, dan Keunggulan-Kelemahan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8.4</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Interpretasi Hasil Model: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8.4</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8.4</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8.4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Interpretasi Hasil Model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