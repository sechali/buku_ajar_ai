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7.3: K-Nearest Neighbor (KNN)</a:t>
            </a:r>
          </a:p>
          <a:p>
            <a:pPr>
              <a:spcBef>
                <a:spcPts val="1200"/>
              </a:spcBef>
              <a:defRPr sz="1600">
                <a:solidFill>
                  <a:srgbClr val="94A3B8"/>
                </a:solidFill>
              </a:defRPr>
            </a:pPr>
            <a:r>
              <a:t>Bagian 7: Machine Learning - Konsep dan Algoritma Klasik</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kerja pembelajaran berbasis instansia (instance-based learning / lazy learning), metrik jarak geometris ruang vektor (Euclidean, Manhattan, Minkowski), serta mekanisme pemungutan suara terbanyak (majority voting).</a:t>
            </a:r>
          </a:p>
          <a:p>
            <a:pPr>
              <a:spcAft>
                <a:spcPts val="400"/>
              </a:spcAft>
              <a:defRPr sz="1100">
                <a:solidFill>
                  <a:srgbClr val="334155"/>
                </a:solidFill>
              </a:defRPr>
            </a:pPr>
            <a:r>
              <a:t>•  Menerapkan (C3) algoritma K-Nearest Neighbor menggunakan pustaka Scikit-Learn dan formulasi aljabar vektor NumPy untuk memetakan sebaran serangan hama ulat api (Setothosea asigna) dan mengklasifikasikan kesuburan tanah perkebunan kelapa sawit berdasarkan citra multispektral drone.</a:t>
            </a:r>
          </a:p>
          <a:p>
            <a:pPr>
              <a:spcAft>
                <a:spcPts val="400"/>
              </a:spcAft>
              <a:defRPr sz="1100">
                <a:solidFill>
                  <a:srgbClr val="334155"/>
                </a:solidFill>
              </a:defRPr>
            </a:pPr>
            <a:r>
              <a:t>•  Menganalisis (C4) dampak hiperparameter K terhadap kompromi bias-varians, fenomena degradasi metrik akibat kutukan dimensi (curse of dimensionality), efektivitas skema pembobotan jarak (distance-weighted voting), serta kompleksitas komputasi struktur data K-D Tree dan Ball Tree.</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K-Nearest Neighbor (KNN).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d_2(mathbfx, mathbfx_i) = |mathbfx - mathbfx_i|_2 = sqrtsum_j=1^p (x_j - x_ij)^2</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K-Nearest Neighbor (KNN)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KNN DAN EFEK NILAI K</a:t>
            </a:r>
          </a:p>
        </p:txBody>
      </p:sp>
      <p:pic>
        <p:nvPicPr>
          <p:cNvPr id="12" name="Picture 11" descr="anatomi_knn_dan_efek_nilai_k.png"/>
          <p:cNvPicPr>
            <a:picLocks noChangeAspect="1"/>
          </p:cNvPicPr>
          <p:nvPr/>
        </p:nvPicPr>
        <p:blipFill>
          <a:blip r:embed="rId2"/>
          <a:stretch>
            <a:fillRect/>
          </a:stretch>
        </p:blipFill>
        <p:spPr>
          <a:xfrm>
            <a:off x="914399" y="2646045"/>
            <a:ext cx="5669280" cy="248031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kerja pembelajaran berbasis instansia (*instance-based learning / lazy learning*), metrik jarak geometris ruang vektor (Euclidean, Manhattan, Minkowski), serta mekanisme pemungutan suara terbanyak (*majority voting*).</a:t>
            </a:r>
            <a:br/>
            <a:r>
              <a:t>2. **Menerapkan (C3)** algoritma K-Nearest Neighbor menggunakan pustaka Scikit-Learn dan formulasi aljabar vektor NumPy untuk memetakan sebaran serangan hama ulat api (*Setothosea asigna*) dan mengklasifikasikan kesuburan tanah perkebunan kelapa sawit berdasarkan citra multispektral drone.</a:t>
            </a:r>
            <a:br/>
            <a:r>
              <a:t>3. **Menganalisis (C4)** dampak hiperparameter $K$ terhadap kompromi bias-varians, fenomena degradasi metrik akibat kutukan dimensi (*curse of dimensionality*), efektivitas skema pembobotan jarak (*distance-weighted voting*), serta kompleksitas komputasi struktur data *K-D Tree* dan *Ball Tree*.</a:t>
            </a:r>
            <a:br/>
            <a:br/>
            <a:r>
              <a:t>### 1.2 Kerangka Hasil Pembelajaran (Outputs, Outcomes, &amp; Impacts)</a:t>
            </a:r>
            <a:br/>
            <a:r>
              <a:t>* **Outputs (Keluaran Langsung)**:</a:t>
            </a:r>
            <a:br/>
            <a:r>
              <a:t>  * Penguasaan formulasi analitik metrik jarak ruang Minkowski, fungsi pembobotan jarak, dan struktur indeks spasial.</a:t>
            </a:r>
            <a:br/>
            <a:r>
              <a:t>  * Skrip Python berstandar PEP 8 untuk *fitting* model KNN, pencarian hiperparameter $K$ optimal via *grid search cross-validation*, dan visualisasi permukaan batas keputusan (*decision boundary surfaces*).</a:t>
            </a:r>
            <a:br/>
            <a:r>
              <a:t>  * Laporan evaluasi diagnostik pengaruh standardisasi fitur dan reduksi dimensionalitas terhadap akurasi model.</a:t>
            </a:r>
            <a:br/>
            <a:r>
              <a:t>* **Outcomes (Kompetensi Aplikatif)**:</a:t>
            </a:r>
            <a:br/>
            <a:r>
              <a:t>  * Kemampuan merancang sistem deteksi dini serangan hama dan penyakit tanaman perkebunan berbasis data telemetri spasial secara non-parametrik.</a:t>
            </a:r>
            <a:br/>
            <a:r>
              <a:t>  * Keahlian dalam memilih metrik jarak yang tepat sesuai topologi data agro-klimat dan menghindari kendala komputasi inferensi lambat pada perangkat cerdas lapangan (*edge devices*).</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K-Nearest Neighbor (KNN):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KELALAIAN MELAKUKAN PENSKALAAN FITUR (*FEATUR</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Kekeliruan Umum: Masalah: Menjalankan KNN pada data mentah di mana satu fitur berorde ribuan (misal: elevasi meter dpl) dan fitur lain berorde pecahan (misal: rasio C/N tanah 0.12). Jarak Euclidean akan sepenuhnya dik</a:t>
            </a:r>
          </a:p>
          <a:p>
            <a:pPr>
              <a:spcBef>
                <a:spcPts val="300"/>
              </a:spcBef>
              <a:defRPr sz="950" b="1">
                <a:solidFill>
                  <a:srgbClr val="0F172A"/>
                </a:solidFill>
              </a:defRPr>
            </a:pPr>
            <a:r>
              <a:t>•  Protokol Mitigasi: Lakukan validasi silang terisolasi, periksa distribusi residual, dan terapkan standardisasi pipeline.</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LATENSI INFERENSI TINGGI PADA PERANGKAT TEPI </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Kekeliruan Umum: Masalah: KNN membutuhkan pemindaian ke seluruh $n$ data memori saat memprediksi satu titik baru. Jika drone pemetaan harus memprediksi status 50.000 pohon secara on-board dengan prosesor berdaya renda</a:t>
            </a:r>
          </a:p>
          <a:p>
            <a:pPr>
              <a:spcBef>
                <a:spcPts val="300"/>
              </a:spcBef>
              <a:defRPr sz="950" b="1">
                <a:solidFill>
                  <a:srgbClr val="0F172A"/>
                </a:solidFill>
              </a:defRPr>
            </a:pPr>
            <a:r>
              <a:t>•  Protokol Mitigasi: Lakukan validasi silang terisolasi, periksa distribusi residual, dan terapkan standardisasi pipeline.</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PEMILIHAN NILAI $K$ GENAP PADA MASALAH BINER</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Kekeliruan Umum: Masalah: Memilih $K = 4$ atau $K = 6$ pada klasifikasi biner. Saat terjadi kondisi seri (2 tetangga sehat dan 2 tetangga sakit), perangkat lunak akan memilih kelas berdasarkan aturan internal acak ata</a:t>
            </a:r>
          </a:p>
          <a:p>
            <a:pPr>
              <a:spcBef>
                <a:spcPts val="300"/>
              </a:spcBef>
              <a:defRPr sz="950" b="1">
                <a:solidFill>
                  <a:srgbClr val="0F172A"/>
                </a:solidFill>
              </a:defRPr>
            </a:pPr>
            <a:r>
              <a:t>•  Protokol Mitigasi: Lakukan validasi silang terisolasi, periksa distribusi residual, dan terapkan standardisasi pipeline.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7.3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K-Nearest Neighbor (KNN)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