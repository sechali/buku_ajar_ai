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7.4: Decision Tree</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matematis pembentukan pohon keputusan (decision tree), konsep ketidakmurnian simpul (node impurity) melalui Entropi Informasi Shannon dan Indeks Ketidakmurnian Gini, serta kriteria perolehan informasi (Information Gain).</a:t>
            </a:r>
          </a:p>
          <a:p>
            <a:pPr>
              <a:spcAft>
                <a:spcPts val="400"/>
              </a:spcAft>
              <a:defRPr sz="1100">
                <a:solidFill>
                  <a:srgbClr val="334155"/>
                </a:solidFill>
              </a:defRPr>
            </a:pPr>
            <a:r>
              <a:t>•  Menerapkan (C3) algoritma Classification and Regression Trees (CART) menggunakan pustaka Scikit-Learn untuk membangun sistem sortasi fraksi kematangan Tandan Buah Segar (TBS) kelapa sawit dan mengekstrak aturan logika eksplisit (If-Then Rules).</a:t>
            </a:r>
          </a:p>
          <a:p>
            <a:pPr>
              <a:spcAft>
                <a:spcPts val="400"/>
              </a:spcAft>
              <a:defRPr sz="1100">
                <a:solidFill>
                  <a:srgbClr val="334155"/>
                </a:solidFill>
              </a:defRPr>
            </a:pPr>
            <a:r>
              <a:t>•  Menganalisis (C4) fenomena overfitting pada pohon yang tumbuh tanpa batas, menerapkan teknik pemangkasan (pre-pruning dan cost-complexity post-pruning), serta mengevaluasi trade-off antara keterpahaman model (explainability) dan akurasi prediksi.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Decision Tree.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p_c = frac1|D| sum_i in D mathbbI(y_i = c)</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Decision Tree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DECISION TREE DAN PARTISI RUANG FITUR</a:t>
            </a:r>
          </a:p>
        </p:txBody>
      </p:sp>
      <p:pic>
        <p:nvPicPr>
          <p:cNvPr id="12" name="Picture 11" descr="anatomi_decision_tree_dan_partisi_ruang_fitur.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matematis pembentukan pohon keputusan (*decision tree*), konsep ketidakmurnian simpul (*node impurity*) melalui Entropi Informasi Shannon dan Indeks Ketidakmurnian Gini, serta kriteria perolehan informasi (*Information Gain*).</a:t>
            </a:r>
            <a:br/>
            <a:r>
              <a:t>2. **Menerapkan (C3)** algoritma Classification and Regression Trees (CART) menggunakan pustaka Scikit-Learn untuk membangun sistem sortasi fraksi kematangan Tandan Buah Segar (TBS) kelapa sawit dan mengekstrak aturan logika eksplisit (*If-Then Rules*).</a:t>
            </a:r>
            <a:br/>
            <a:r>
              <a:t>3. **Menganalisis (C4)** fenomena *overfitting* pada pohon yang tumbuh tanpa batas, menerapkan teknik pemangkasan (*pre-pruning* dan *cost-complexity post-pruning*), serta mengevaluasi trade-off antara keterpahaman model (*explainability*) dan akurasi prediksi.</a:t>
            </a:r>
            <a:br/>
            <a:br/>
            <a:r>
              <a:t>### 1.2 Kerangka Hasil Pembelajaran (Outputs, Outcomes, &amp; Impacts)</a:t>
            </a:r>
            <a:br/>
            <a:r>
              <a:t>* **Outputs (Keluaran Langsung)**:</a:t>
            </a:r>
            <a:br/>
            <a:r>
              <a:t>  * Penguasaan formulasi analitik Entropi Shannon, Ketidakmurnian Gini, Information Gain, dan fungsi penalti kompleksitas biaya $R_\alpha(T)$.</a:t>
            </a:r>
            <a:br/>
            <a:r>
              <a:t>  * Skrip Python berstandar PEP 8 untuk konstruksi pohon keputusan, optimasi kedalaman pohon, dan visualisasi grafis diagram alir simpul keputusan.</a:t>
            </a:r>
            <a:br/>
            <a:r>
              <a:t>  * Dokumen daftar aturan logika kondisional (*business rule set*) yang siap diintegrasikan pada sistem timbangan dan sortasi pabrik.</a:t>
            </a:r>
            <a:br/>
            <a:r>
              <a:t>* **Outcomes (Kompetensi Aplikatif)**:</a:t>
            </a:r>
            <a:br/>
            <a:r>
              <a:t>  * Kemampuan merancang model kecerdasan buatan transparan (*White-Box AI*) yang dapat diaudit, diverifikasi, dan diterima langsung oleh mandor panen dan manajemen pabrik kelapa sawit.</a:t>
            </a:r>
            <a:br/>
            <a:r>
              <a:t>  * Keahlian dalam mendiagnosis kedalaman pohon optimal guna mencegah memorisasi derau data lapangan.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Decision Tree: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KEKELIRUAN POHON TANPA REGULASI (*UNCONSTRAIN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Kekeliruan Umum: Masalah: Membiarkan `maxdepth=None` dan `minsamplessplit=2`. Pohon akan terus membelah hingga setiap sampel anomali memiliki daun sendiri, menghasilkan model berukuran raksasa yang rapuh (brittle) ter</a:t>
            </a:r>
          </a:p>
          <a:p>
            <a:pPr>
              <a:spcBef>
                <a:spcPts val="300"/>
              </a:spcBef>
              <a:defRPr sz="950" b="1">
                <a:solidFill>
                  <a:srgbClr val="0F172A"/>
                </a:solidFill>
              </a:defRPr>
            </a:pPr>
            <a:r>
              <a:t>•  Protokol Mitigasi: Lakukan validasi silang terisolasi, periksa distribusi residual, dan terapkan standardisasi pipeline.</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INSTABILITAS TINGGI TERHADAP VARIASI DATA KEC</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Kekeliruan Umum: Masalah: Menghapus atau menambahkan segelintir sampel data panen di simpul atas dapat mengubah fitur pemisah akar secara total, merombak seluruh struktur cabang di bawahnya secara drastis.     Solusi:</a:t>
            </a:r>
          </a:p>
          <a:p>
            <a:pPr>
              <a:spcBef>
                <a:spcPts val="300"/>
              </a:spcBef>
              <a:defRPr sz="950" b="1">
                <a:solidFill>
                  <a:srgbClr val="0F172A"/>
                </a:solidFill>
              </a:defRPr>
            </a:pPr>
            <a:r>
              <a:t>•  Protokol Mitigasi: Lakukan validasi silang terisolasi, periksa distribusi residual, dan terapkan standardisasi pipeline.</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KETERBATASAN PARTISI BERORIENTASI SUMBU (*AXI</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Kekeliruan Umum: Masalah: Pohon keputusan hanya mampu membagi data menggunakan garis yang sejajar tegak lurus dengan sumbu fitur ($x1 \le \theta$). Jika relasi biologis antar-fitur bersifat diagonal (misalnya kombinas</a:t>
            </a:r>
          </a:p>
          <a:p>
            <a:pPr>
              <a:spcBef>
                <a:spcPts val="300"/>
              </a:spcBef>
              <a:defRPr sz="950" b="1">
                <a:solidFill>
                  <a:srgbClr val="0F172A"/>
                </a:solidFill>
              </a:defRPr>
            </a:pPr>
            <a:r>
              <a:t>•  Protokol Mitigasi: Lakukan validasi silang terisolasi, periksa distribusi residual, dan terapkan standardisasi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Decision Tree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