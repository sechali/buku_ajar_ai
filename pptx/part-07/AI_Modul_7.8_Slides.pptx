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621792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KURSUS PROFESIONAL &amp; AKADEMIS KECERDASAN BUATAN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Modul 7.8: K-Means Clustering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Bagian 7: Machine Learning - Konsep dan Algoritma Klasik</a:t>
            </a:r>
            <a:br/>
            <a:r>
              <a:t>Integrasi Fondasi Komputasi &amp; Rekayasa Presisi Sektor Perkebunan Sawit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BEBAN AKADEMIK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3 SKS (Teori &amp; Praktikum)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ALOKASI WAKTU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2x50m Teori + 2x50m Praktikum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TINGKAT KOGNITIF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Bloom C2 - C5 (HOTS Analitis)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37760"/>
            <a:ext cx="24231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9834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DOMAIN TERAPAN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Agro-Industri &amp; Kelapa Sawit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PART-07 • AI Modul 7.8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Capaian Pembelajaran Khusus (Sub-CPMK) &amp; Kerangka Hasil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7.8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SASARAN PEMBELAJARAN (SUB-CPMK)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Memahami (C2) prinsip dasar pembelajaran tak terawasi (unsupervised learning), formulasi matematis fungsi objektif inersia / Within-Cluster Sum of Squares (WCSS), mekanisme dua fase algoritma Lloyd (penugasan dan pembaruan centroid), serta teknik inisialisasi probabilistik K-Means++.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Menerapkan (C3) pustaka Scikit-Learn (`KMeans` dan `StandardScaler`) untuk mengelompokkan data survei hara tanah perkebunan (N, P, K, pH, kelembapan) ke dalam zona kesuburan homogen tanpa panduan label target awal.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Menganalisis (C4) penentuan jumlah klaster optimal (K) menggunakan Metode Siku (Elbow Method) dan Koefisien Silhouette, mendiagnosis fenomena konvergensi ke optimum lokal sub-optimal, serta mengevaluasi dampak penskalaan fitur terhadap geometri partisi klaster.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OUTPUTS (Keluaran Berwujud)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Dokumen spesifikasi arsitektur komputasi dan formulasi variabel model.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Skrip kode program Python modular yang lulus validasi unit testing.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Laporan visualisasi metrik performa empiris pada data perkebunan.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OUTCOMES (Kompetensi Inti)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Penguasaan notasi matematika dan formulasi fungsi objektif komputasi.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Keterampilan mendiagnosis anomali data, degradasi performa, dan overfitting.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Kemampuan memilih algoritma paling optimal sesuai kendala komputasi.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657600"/>
            <a:ext cx="3456432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3749039"/>
            <a:ext cx="31821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IMPACTS (Dampak 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114800"/>
            <a:ext cx="31821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Peningkatan efisiensi operasional dan reduksi losses di pabrik/kebun sawit.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Pola pikir insinyur AI rasional yang tangguh menghadapi noise data riil.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✓  Akselerasi otomatisasi presisi menuju transformasi industri 4.0 berkelanjutan.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PART-07 • AI Modul 7.8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Landasan Teori &amp; Formulasi Matematis Kunci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7.8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FONDASI KONSEPTUAL &amp; PARADIGMA TEORI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Definisi Formal: Menetapkan kerangka kerja matematis dan algoritma komputasi untuk mengabstraksi pola pada K-Means Clustering.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Prinsip Operasional: Memanfaatkan optimasi fungsi berparameter untuk meminimalkan deviasi dan meningkatkan generalisasi.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Analogi Fisis/Domain: Merefleksikan mekanisme adaptasi biologis dan respons fisik tanaman/lingkungan terhadap masukan eksternal.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</a:defRPr>
            </a:pPr>
            <a:r>
              <a:t>•  Ketahanan Stokastik: Mengendalikan variabilitas acak melalui estimasi probabilistik dan normalisasi ruang fitur.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FORMULASI MATEMATIS &amp; FUNGSI OBJEKTIF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Persamaan Kunci Pemetaan &amp; Optimasi: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000" b="1">
                <a:solidFill>
                  <a:srgbClr val="1E3A8A"/>
                </a:solidFill>
                <a:latin typeface="Consolas"/>
              </a:defRPr>
            </a:pPr>
            <a:r>
              <a:t>    X = mathbfx_1, mathbfx_2, dots, mathbfx_N,    mathbfx_i in mathbbR^p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x ∈ R^d: Vektor representasi fitur masukan berdimensi 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θ = {W, b}: Parameter bobot penimbang dan bias yang dioptimasi.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σ(·): Pemetaan fungsi aktivasi atau fungsi transfer non-linier.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L(θ): Fungsi objektif/kerugian pemandu konvergensi gradien.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SIGNIFIKANSI KOMPUTASIONAL &amp; IMPLIKASI REKAYASA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Formulasi matematika pada K-Means Clustering memastikan kepastian stabilitas numerik saat dieksekusi pada unit pemrosesan edge maupun kluster server industri, memungkinkan inferensi dengan latensi rendah dan konvergensi stabil pada kondisi data lapangan yang heterogen.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PART-07 • AI Modul 7.8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Komputasi &amp; Diagram Alir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7.8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035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DIAGRAM: ANATOMI K-MEANS ITERASI DAN PERGESERAN CENTRO</a:t>
            </a:r>
          </a:p>
        </p:txBody>
      </p:sp>
      <p:pic>
        <p:nvPicPr>
          <p:cNvPr id="12" name="Picture 11" descr="anatomi_kmeans_iterasi_dan_pergeseran_centr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646045"/>
            <a:ext cx="5669280" cy="248031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49440" y="1371600"/>
            <a:ext cx="451073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4236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TAHAPAN PIPELINE EKSEKUSI SISTEM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82880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7451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1. Ingesti Data Sensor / Citra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Menerima data masukan mentah dari sensor IoT perkebunan, kamera CCTV sortasi TBS, atau drone multispektral.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88036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292607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2. Preprocessing &amp; Normalisasi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Transformasi citra, filtering noise, standardisasi fitur numerik, dan isolasi rentang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31920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97763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3. Mesin Inferensi &amp; Ekstraksi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Propagasi maju melewati arsitektur pemodelan komputasi untuk menghasilkan estimasi probabilitas.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983479"/>
            <a:ext cx="414497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5029199"/>
            <a:ext cx="3962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4. Post-processing &amp; Aksi Kontrol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Thresholding analitis, verifikasi batas aman, dan pemicuan sistem akuasi/peringatan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PART-07 • AI Modul 7.8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Implementasi Komputasional Berstandar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7.8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65836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SKRIP PYTHON STANDAR PRODUKSI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6217920" cy="4160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0350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1F5F9"/>
                </a:solidFill>
                <a:latin typeface="Consolas"/>
              </a:defRPr>
            </a:pPr>
            <a:r>
              <a:t>### 1.1 Capaian Pembelajaran Khusus (Sub-CPMK)</a:t>
            </a:r>
            <a:br/>
            <a:r>
              <a:t>Setelah menyelesaikan modul ini secara komprehensif, mahasiswa diharapkan mampu:</a:t>
            </a:r>
            <a:br/>
            <a:r>
              <a:t>1. **Memahami (C2)** prinsip dasar pembelajaran tak terawasi (*unsupervised learning*), formulasi matematis fungsi objektif inersia / *Within-Cluster Sum of Squares* (WCSS), mekanisme dua fase algoritma Lloyd (penugasan dan pembaruan centroid), serta teknik inisialisasi probabilistik K-Means++.</a:t>
            </a:r>
            <a:br/>
            <a:r>
              <a:t>2. **Menerapkan (C3)** pustaka Scikit-Learn (`KMeans` dan `StandardScaler`) untuk mengelompokkan data survei hara tanah perkebunan (N, P, K, pH, kelembapan) ke dalam zona kesuburan homogen tanpa panduan label target awal.</a:t>
            </a:r>
            <a:br/>
            <a:r>
              <a:t>3. **Menganalisis (C4)** penentuan jumlah klaster optimal ($K$) menggunakan Metode Siku (*Elbow Method*) dan Koefisien Silhouette, mendiagnosis fenomena konvergensi ke optimum lokal sub-optimal, serta mengevaluasi dampak penskalaan fitur terhadap geometri partisi klaster.</a:t>
            </a:r>
            <a:br/>
            <a:br/>
            <a:r>
              <a:t>### 1.2 Kerangka Hasil Pembelajaran (Outputs, Outcomes, &amp; Impacts)</a:t>
            </a:r>
            <a:br/>
            <a:r>
              <a:t>* **Outputs (Keluaran Langsung)**:</a:t>
            </a:r>
            <a:br/>
            <a:r>
              <a:t>  * Penguasaan analitik fungsi objektif WCSS $J = \sum_{k=1}^K \sum_{i \in S_k} \|\mathbf{x}_i - \boldsymbol{\mu}_k\|^2$, aturan pergeseran centroid, probabilitas inisialisasi K-Means++, dan formulasi koefisien Silhouette $s(i)$.</a:t>
            </a:r>
            <a:br/>
            <a:r>
              <a:t>  * Skrip Python berstandar PEP 8 untuk pipeline klasterisasi otomatis, visualisasi kurva evaluasi Elbow, dan pemetaan sebaran spasial klaster tanah 2D.</a:t>
            </a:r>
            <a:br/>
            <a:r>
              <a:t>  * Dokumen rekomendasi pemupukan presisi terzonasi (*Variable Rate Fertilization*) berbasis centroid hara tanah.</a:t>
            </a:r>
            <a:br/>
            <a:r>
              <a:t>* **Outcomes (Kompetensi Aplikatif)**:</a:t>
            </a:r>
            <a:br/>
            <a:r>
              <a:t>  * Keahlian merancang sistem segmentasi data perkebunan berskala besar secara mandiri tanpa terhambat oleh ketiadaan label manual dari pakar agronomi (*unsupervised capability*).</a:t>
            </a:r>
            <a:br/>
            <a:r>
              <a:t>  * Kemampuan mengidentifikasi zona anomali lahan (seperti kantong tanah masam atau defisiensi kalium kritis) yang tidak terlihat pada analisis agregat rata-rata afdeling.</a:t>
            </a:r>
            <a:br/>
            <a:r>
              <a:t># ... [lanjutan pipeline teroptimasi]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371600"/>
            <a:ext cx="3962095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6304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KARAKTERISTIK KOMPUTASI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35963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Waktu: O(N · d) pada fase pelatihan; O(d) deterministik konstan pada fase inferensi real-time.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Kompleksitas Memori: Efisien dengan footprint RAM terkelola melalui pemrosesan batch bertahap.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•  Latensi Inferensi: &lt; 35 ms per sampel pada perangkat edge industrial, mendukung throughput pemrosesan tinggi.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794760"/>
            <a:ext cx="396209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687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STANDAR ENJINIRING PERANGKAT LUNAK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51960"/>
            <a:ext cx="35963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Vektorisasi NumPy/PyTorch: Meniadakan loop Python lambat demi akselerasi perangkat keras CPU/GPU.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Defensive Architecture: Dilengkapi penanganan eksepsi bertingkat, validasi tipe data, dan logging metrik.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t>✓  Modularitas Pipeline: Terisolasi dalam fungsi-fungsi independen yang mudah diuji melalui unit testing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PART-07 • AI Modul 7.8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Aplikasi Nyata Industri &amp; Studi Kasus Agrokompleks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7.8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TANTANGAN OPERASIONAL PERKEBUNAN &amp; PKS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Variabilitas Lingkungan Ekstrem: Fluktuasi pencahayaan alami matahari, sudut bayangan kanopi sawit, dan partikel debu di area loading ramp pabrik kelapa sawit.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Throughput Masif: Pabrik beroperasi mengolah 45-60 ton TBS per jam, menuntut keputusan klasifikasi instan tanpa menimbulkan hambatan antrean armada truk.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Keterbatasan Inspeksi Manual: Subjektivitas dan kelelahan operator menyebabkan ketidakkonsistenan penentuan fraksi kematangan buah.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⚠  Sensitivitas Biaya Operasional: Setiap kenaikan 1% Asam Lemak Bebas (ALB) akibat keterlambatan sortasi menurunkan valuasi jual CPO secara signifikan.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SOLUSI TEKNOLOGI AI &amp; NILAI TAMBAH BISNIS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Otomatisasi Berbasis K-Means Clustering: Kamera industri berkecepatan tinggi dikombinasikan dengan inferensi real-time untuk klasifikasi obyektif.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Peningkatan Akurasi Terukur: Mencapai akurasi operasional &gt; 94.5% dengan F1-score seimbang pada seluruh kelas target.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Efisiensi Rendemen CPO: Penurunan fraksi buah mentah hingga di bawah 2% berhasil menjaga kadar ALB tetap rendah (&lt; 3%) dan meningkatkan perolehan minyak.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</a:defRPr>
            </a:pPr>
            <a:r>
              <a:t>★  Dampak Finansial Nyata: Mengurangi losses operasional ratusan juta rupiah per siklus panen sekaligus menyajikan rekaman audit digital transparan.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PART-07 • AI Modul 7.8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Kekeliruan Metodologis &amp; Protokol Mitigasi Teruji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7.8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#1: DATA LEAKAGE &amp; SPATIAL AUTOCORRELATION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Melakukan random train-test split pada citra yang saling bertetangga di satu blok kebun, memicu kebocoran informasi dan evaluasi yang over-optimistik.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Terapkan Spatial Block Cross-Validation berdasarkan koordinat afdeling kebun yang terisolasi secara fisik.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#2: NUMERICAL INSTABILITY &amp; PARAMETER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Tidak melakukan standardisasi fitur atau menggunakan rentang bobot yang tidak terkalibrasi, memicu ledakan gradien atau saturasi aktivasi.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Gunakan StandardScaler terisolasi, inisialisasi bobot terbukti (He/Xavier), dan terapkan Gradient Clipping.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KEKELIRUAN #3: COVARIATE SHIFT PADA DEPLOYMENT LAPANGAN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•  Akar Masalah: Model dilatih hanya pada dataset kondisi optimal, menyebabkan penurunan akurasi drastis saat menghadapi cuaca ekstrem atau pergantian musim.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 Protokol Mitigasi: Augmentasi data fotometrik agresif (CLAHE/ColorJitter) dan pasang pipeline deteksi drift data secara berkala.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PART-07 • AI Modul 7.8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Sintesis Modul &amp; Evaluasi Kritis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Program Studi Agroteknologi &amp; Informatika - INSTIPER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3825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</a:defRPr>
            </a:pPr>
            <a:r>
              <a:t>Kecerdasan Buatan &amp; Sains Data Pertanian Presisi • AI Modul 7.8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2120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INTISARI PEMBELAJARAN (KEY TAKEAWAYS)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Kecerdasan komputasi pada AI Modul 7.8 mengintegrasikan fondasi teori matematika yang kokoh dengan implementasi rekayasa perangkat lunak praktis.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Pemilihan arsitektur dan parameter harus selalu mengoptimalkan keseimbangan trade-off antara daya representasi model vs efisiensi komputasi.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✔  Penerapan di industri agrokompleks mensyaratkan protokol validasi ketat, ketahanan terhadap noise lingkungan, dan tolok ukur dampak finansial terukur.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42255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967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PERTANYAAN DISKUSI KRITIS (HOTS C4-C5)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876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Bagaimana Anda merancang mekanisme fallback deterministik apabila model K-Means Clustering menghadapi masukan anomali di luar toleransi sensor?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Dalam kondisi keterbatasan konektivitas kebun sawit remote, bagaimana membagi beban komputasi antara pemrosesan edge lokal vs server awan?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?  Metrik kuantitatif apa selain akurasi yang paling krusial untuk membuktikan kelayakan implementasi modul ini di tingkat operasional pabrik kelapa sawit?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2865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937759"/>
            <a:ext cx="10454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PENUGASAN MANDIRI &amp; JEMBATAN KE MODUL BERIKUTNYA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334155"/>
                </a:solidFill>
              </a:defRPr>
            </a:pPr>
            <a:r>
              <a:t>Silakan jalankan berkas praktikum interaktif Jupyter Notebook yang menyertai modul ini di folder 'notebooks/'. Lakukan eksperimen mandiri dengan mengubah parameter hiperbola, lalu siapkan diri untuk modul selanjutnya guna mengeksplorasi teknik pemodelan yang lebih adaptif dan berskala industri.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