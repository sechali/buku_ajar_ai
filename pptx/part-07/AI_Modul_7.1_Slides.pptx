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7.1: Linear Regression</a:t>
            </a:r>
          </a:p>
          <a:p>
            <a:pPr>
              <a:spcBef>
                <a:spcPts val="1200"/>
              </a:spcBef>
              <a:defRPr sz="1600">
                <a:solidFill>
                  <a:srgbClr val="94A3B8"/>
                </a:solidFill>
              </a:defRPr>
            </a:pPr>
            <a:r>
              <a:t>Bagian 7: Machine Learning - Konsep dan Algoritma Klasik</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matematis regresi linier sederhana dan berganda melalui metode Ordinary Least Squares (OLS) serta algoritma optimasi Gradient Descent.</a:t>
            </a:r>
          </a:p>
          <a:p>
            <a:pPr>
              <a:spcAft>
                <a:spcPts val="400"/>
              </a:spcAft>
              <a:defRPr sz="1100">
                <a:solidFill>
                  <a:srgbClr val="334155"/>
                </a:solidFill>
              </a:defRPr>
            </a:pPr>
            <a:r>
              <a:t>•  Menerapkan (C3) pemodelan regresi linier menggunakan Scikit-Learn dan formulasi aljabar linier murni (NumPy) pada dataset agronomi perkebunan kelapa sawit (prediksi produksi ton TBS berdasarkan curah hujan, pemupukan, dan radiasi surya).</a:t>
            </a:r>
          </a:p>
          <a:p>
            <a:pPr>
              <a:spcAft>
                <a:spcPts val="400"/>
              </a:spcAft>
              <a:defRPr sz="1100">
                <a:solidFill>
                  <a:srgbClr val="334155"/>
                </a:solidFill>
              </a:defRPr>
            </a:pPr>
            <a:r>
              <a:t>•  Menganalisis (C4) asumsi-asumsi klasik Gauss-Markov (linearitas, homoskedastisitas, no endogeneity, multikolinearitas dengan VIF, dan normalitas residual) serta menginterpretasikan koefisien determinasi (R^2, Adjusted R^2, MAE, RMSE) guna mencegah estimasi bias.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Linear Regression.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y_i = beta_0 + beta_1 x_i + epsilon_i,    i = 1, 2, dots, 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Linear Regression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ANATOMI REGRESI LINIER OLS DAN GRADIENT DESCE</a:t>
            </a:r>
          </a:p>
        </p:txBody>
      </p:sp>
      <p:pic>
        <p:nvPicPr>
          <p:cNvPr id="12" name="Picture 11" descr="anatomi_regresi_linier_ols_dan_gradient_descent.png"/>
          <p:cNvPicPr>
            <a:picLocks noChangeAspect="1"/>
          </p:cNvPicPr>
          <p:nvPr/>
        </p:nvPicPr>
        <p:blipFill>
          <a:blip r:embed="rId2"/>
          <a:stretch>
            <a:fillRect/>
          </a:stretch>
        </p:blipFill>
        <p:spPr>
          <a:xfrm>
            <a:off x="914399" y="2646045"/>
            <a:ext cx="5669280" cy="248031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matematis regresi linier sederhana dan berganda melalui metode Ordinary Least Squares (OLS) serta algoritma optimasi Gradient Descent.</a:t>
            </a:r>
            <a:br/>
            <a:r>
              <a:t>2. **Menerapkan (C3)** pemodelan regresi linier menggunakan Scikit-Learn dan formulasi aljabar linier murni (NumPy) pada dataset agronomi perkebunan kelapa sawit (prediksi produksi ton TBS berdasarkan curah hujan, pemupukan, dan radiasi surya).</a:t>
            </a:r>
            <a:br/>
            <a:r>
              <a:t>3. **Menganalisis (C4)** asumsi-asumsi klasik Gauss-Markov (linearitas, homoskedastisitas, no endogeneity, multikolinearitas dengan VIF, dan normalitas residual) serta menginterpretasikan koefisien determinasi ($R^2$, Adjusted $R^2$, MAE, RMSE) guna mencegah estimasi bias.</a:t>
            </a:r>
            <a:br/>
            <a:br/>
            <a:r>
              <a:t>### 1.2 Kerangka Hasil Pembelajaran (Outputs, Outcomes, &amp; Impacts)</a:t>
            </a:r>
            <a:br/>
            <a:r>
              <a:t>* **Outputs (Keluaran Langsung)**:</a:t>
            </a:r>
            <a:br/>
            <a:r>
              <a:t>  * Penguasaan formulasi analitik OLS ($\hat{\boldsymbol{\beta}} = (\mathbf{X}^T \mathbf{X})^{-1} \mathbf{X}^T \mathbf{y}$) dan turunan gradien fungsi rugi MSE.</a:t>
            </a:r>
            <a:br/>
            <a:r>
              <a:t>  * Skrip Python berstandar PEP 8 untuk fitting model, diagnostik residual, dan visualisasi garis regresi beserta interval kepercayaan.</a:t>
            </a:r>
            <a:br/>
            <a:r>
              <a:t>  * Laporan evaluasi pemenuhan uji asumsi klasik Gauss-Markov dan multikolinearitas (VIF).</a:t>
            </a:r>
            <a:br/>
            <a:r>
              <a:t>* **Outcomes (Kompetensi Aplikatif)**:</a:t>
            </a:r>
            <a:br/>
            <a:r>
              <a:t>  * Kemampuan merancang model regresi linier tepercaya untuk mengestimasi produktivitas tanaman atau parameter mutu CPO berdasarkan variabel agroklimat dan agronomi.</a:t>
            </a:r>
            <a:br/>
            <a:r>
              <a:t>  * Keahlian dalam mendiagnosis anomali data (*outliers*, *leverage points*, heteroskedastisitas) dan melakukan transformasi variabel (logaritma, standardisasi).</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Linear Regression: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MULTIKOLINEARITAS YANG MENYAMAR</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Kekeliruan Umum: Bentuk Kekeliruan: Memasukkan variabel penjelas yang memiliki korelasi sangat tinggi secara serentak (misalnya memasukkan 'Dosis Urea' dan 'Dosis Total Nitrogen'). Hal ini menyebabkan matriks $\mathbf</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KORELASI PALSU (*SPURIOUS CORRELATION*) VS HU</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Kekeliruan Umum: Bentuk Kekeliruan: Menemukan nilai $R^2$ tinggi antara dua variabel yang sama sekali tidak memiliki mekanisme kausal biologis (misalnya korelasi antara jumlah penjualan smartphone di kota dengan produ</a:t>
            </a:r>
          </a:p>
          <a:p>
            <a:pPr>
              <a:spcBef>
                <a:spcPts val="300"/>
              </a:spcBef>
              <a:defRPr sz="950" b="1">
                <a:solidFill>
                  <a:srgbClr val="0F172A"/>
                </a:solidFill>
              </a:defRPr>
            </a:pPr>
            <a:r>
              <a:t>•  Protokol Mitigasi: Lakukan validasi silang terisolasi, periksa distribusi residual, dan terapkan standardisasi pipeline.</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EKSTRAPOLASI LIAR DI LUAR DOMAIN PELATIHAN (*</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Kekeliruan Umum: Bentuk Kekeliruan: Menggunakan model yang dilatih pada rentang pupuk 4–10 kg/pokok untuk memprediksi hasil jika dosis dinaikkan menjadi 30 kg/pokok. Pada dosis ekstrem, tanaman akan mengalami keracuna</a:t>
            </a:r>
          </a:p>
          <a:p>
            <a:pPr>
              <a:spcBef>
                <a:spcPts val="300"/>
              </a:spcBef>
              <a:defRPr sz="950" b="1">
                <a:solidFill>
                  <a:srgbClr val="0F172A"/>
                </a:solidFill>
              </a:defRPr>
            </a:pPr>
            <a:r>
              <a:t>•  Protokol Mitigasi: Lakukan validasi silang terisolasi, periksa distribusi residual, dan terapkan standardisasi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PART-07 • AI Modul 7.1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7.1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7.1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Linear Regression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